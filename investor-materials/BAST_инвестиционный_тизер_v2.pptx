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f34c4c40d34572" /><Relationship Type="http://schemas.openxmlformats.org/officeDocument/2006/relationships/extended-properties" Target="/docProps/app.xml" Id="Rac598413a28b4882" /><Relationship Type="http://schemas.openxmlformats.org/officeDocument/2006/relationships/officeDocument" Target="/ppt/presentation.xml" Id="R525da68b82a2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259fedcfc14518"/>
  </p:sldMasterIdLst>
  <p:notesMasterIdLst>
    <p:notesMasterId xmlns:r="http://schemas.openxmlformats.org/officeDocument/2006/relationships" r:id="R44db5839796e41f7"/>
  </p:notesMasterIdLst>
  <p:sldIdLst>
    <p:sldId xmlns:r="http://schemas.openxmlformats.org/officeDocument/2006/relationships" id="256" r:id="Rac2beeeda69248b5"/>
    <p:sldId xmlns:r="http://schemas.openxmlformats.org/officeDocument/2006/relationships" id="257" r:id="Ra47c55d313fc4b9e"/>
    <p:sldId xmlns:r="http://schemas.openxmlformats.org/officeDocument/2006/relationships" id="258" r:id="R57d9046db3d64b08"/>
    <p:sldId xmlns:r="http://schemas.openxmlformats.org/officeDocument/2006/relationships" id="259" r:id="Rd2cceb71f97c403c"/>
    <p:sldId xmlns:r="http://schemas.openxmlformats.org/officeDocument/2006/relationships" id="260" r:id="Rcce760b9f9204bf5"/>
    <p:sldId xmlns:r="http://schemas.openxmlformats.org/officeDocument/2006/relationships" id="261" r:id="Rdeeafa57da6f4f93"/>
    <p:sldId xmlns:r="http://schemas.openxmlformats.org/officeDocument/2006/relationships" id="262" r:id="R1109e9a46fe04355"/>
    <p:sldId xmlns:r="http://schemas.openxmlformats.org/officeDocument/2006/relationships" id="263" r:id="Re429dac9e4c64fcf"/>
    <p:sldId xmlns:r="http://schemas.openxmlformats.org/officeDocument/2006/relationships" id="264" r:id="R52f8a60dee8e415a"/>
    <p:sldId xmlns:r="http://schemas.openxmlformats.org/officeDocument/2006/relationships" id="265" r:id="R7ef6a7ef311044f7"/>
    <p:sldId xmlns:r="http://schemas.openxmlformats.org/officeDocument/2006/relationships" id="266" r:id="R5f150291faa64f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8d56353634339" /><Relationship Type="http://schemas.openxmlformats.org/officeDocument/2006/relationships/slideMaster" Target="/ppt/slideMasters/slideMaster1.xml" Id="Rb2259fedcfc14518" /><Relationship Type="http://schemas.openxmlformats.org/officeDocument/2006/relationships/notesMaster" Target="/ppt/notesMasters/notesMaster1.xml" Id="R44db5839796e41f7" /><Relationship Type="http://schemas.openxmlformats.org/officeDocument/2006/relationships/presProps" Target="/ppt/presProps.xml" Id="R339af37a211748f4" /><Relationship Type="http://schemas.openxmlformats.org/officeDocument/2006/relationships/tableStyles" Target="/ppt/tableStyles.xml" Id="R7790162cda4a47b5" /><Relationship Type="http://schemas.openxmlformats.org/officeDocument/2006/relationships/slide" Target="/ppt/slides/slide1.xml" Id="Rac2beeeda69248b5" /><Relationship Type="http://schemas.openxmlformats.org/officeDocument/2006/relationships/slide" Target="/ppt/slides/slide2.xml" Id="Ra47c55d313fc4b9e" /><Relationship Type="http://schemas.openxmlformats.org/officeDocument/2006/relationships/slide" Target="/ppt/slides/slide3.xml" Id="R57d9046db3d64b08" /><Relationship Type="http://schemas.openxmlformats.org/officeDocument/2006/relationships/slide" Target="/ppt/slides/slide4.xml" Id="Rd2cceb71f97c403c" /><Relationship Type="http://schemas.openxmlformats.org/officeDocument/2006/relationships/slide" Target="/ppt/slides/slide5.xml" Id="Rcce760b9f9204bf5" /><Relationship Type="http://schemas.openxmlformats.org/officeDocument/2006/relationships/slide" Target="/ppt/slides/slide6.xml" Id="Rdeeafa57da6f4f93" /><Relationship Type="http://schemas.openxmlformats.org/officeDocument/2006/relationships/slide" Target="/ppt/slides/slide7.xml" Id="R1109e9a46fe04355" /><Relationship Type="http://schemas.openxmlformats.org/officeDocument/2006/relationships/slide" Target="/ppt/slides/slide8.xml" Id="Re429dac9e4c64fcf" /><Relationship Type="http://schemas.openxmlformats.org/officeDocument/2006/relationships/slide" Target="/ppt/slides/slide9.xml" Id="R52f8a60dee8e415a" /><Relationship Type="http://schemas.openxmlformats.org/officeDocument/2006/relationships/slide" Target="/ppt/slides/slide10.xml" Id="R7ef6a7ef311044f7" /><Relationship Type="http://schemas.openxmlformats.org/officeDocument/2006/relationships/slide" Target="/ppt/slides/slide11.xml" Id="R5f150291faa6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517a20ca6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d8ffbaea34a82" /><Relationship Type="http://schemas.openxmlformats.org/officeDocument/2006/relationships/notesMaster" Target="/ppt/notesMasters/notesMaster1.xml" Id="R83f01d2b5ccd4b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abd91e31f408e" /><Relationship Type="http://schemas.openxmlformats.org/officeDocument/2006/relationships/notesMaster" Target="/ppt/notesMasters/notesMaster1.xml" Id="Radeebe7ba0c140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ec92467193482b" /><Relationship Type="http://schemas.openxmlformats.org/officeDocument/2006/relationships/notesMaster" Target="/ppt/notesMasters/notesMaster1.xml" Id="R99bb3fbb8041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2e01c5b444090" /><Relationship Type="http://schemas.openxmlformats.org/officeDocument/2006/relationships/notesMaster" Target="/ppt/notesMasters/notesMaster1.xml" Id="Rf2b231f0b98b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3f84177b4496d" /><Relationship Type="http://schemas.openxmlformats.org/officeDocument/2006/relationships/notesMaster" Target="/ppt/notesMasters/notesMaster1.xml" Id="Rc7ae50ed9229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ab1ae64374063" /><Relationship Type="http://schemas.openxmlformats.org/officeDocument/2006/relationships/notesMaster" Target="/ppt/notesMasters/notesMaster1.xml" Id="R46d3d3cd231e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9c460d8eb74cf9" /><Relationship Type="http://schemas.openxmlformats.org/officeDocument/2006/relationships/notesMaster" Target="/ppt/notesMasters/notesMaster1.xml" Id="R692c36e00d0a4f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9e84b25600477b" /><Relationship Type="http://schemas.openxmlformats.org/officeDocument/2006/relationships/notesMaster" Target="/ppt/notesMasters/notesMaster1.xml" Id="R89ab5edcfe664e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788e836ce44ba5" /><Relationship Type="http://schemas.openxmlformats.org/officeDocument/2006/relationships/notesMaster" Target="/ppt/notesMasters/notesMaster1.xml" Id="R0c85118b38a2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4081579c004fc5" /><Relationship Type="http://schemas.openxmlformats.org/officeDocument/2006/relationships/notesMaster" Target="/ppt/notesMasters/notesMaster1.xml" Id="R3488d491f19345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bd650f547d48c0" /><Relationship Type="http://schemas.openxmlformats.org/officeDocument/2006/relationships/notesMaster" Target="/ppt/notesMasters/notesMaster1.xml" Id="Rde94f7ddb69c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материалы проекта и сведения владельца продукта, 03.08.2026.</a:t>
            </a:r>
          </a:p>
          <a:p xmlns:a="http://schemas.openxmlformats.org/drawingml/2006/main">
            <a:r>
              <a:t>Изображение сохранено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подтверждённая владельцем продукта механика публикации, рекомендаций и выбора представителя,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работающие персональные ссылки и QR-коды; правило фиксации источника рекомендации, 03.08.2026.</a:t>
            </a:r>
          </a:p>
          <a:p xmlns:a="http://schemas.openxmlformats.org/drawingml/2006/main">
            <a:r>
              <a:t>Модель вознаграждения участников сделки ещё не утверждена.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подтверждённые владельцем продукта сценарии покупателя, риэлтора, агентства и застройщика, 03.08.2026.</a:t>
            </a:r>
          </a:p>
          <a:p xmlns:a="http://schemas.openxmlformats.org/drawingml/2006/main">
            <a:r>
              <a:t>Сертификаты «БАСТ» фиксированы для всех сделок и суммируются с акциями застройщика.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приложения в App Store и Google Play; действующая веб-CRM для профессиональных участников, 03.08.2026.</a:t>
            </a:r>
          </a:p>
          <a:p xmlns:a="http://schemas.openxmlformats.org/drawingml/2006/main">
            <a:r>
              <a:t>Изображения сохранены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подтверждённое текущее состояние продукта, 03.08.2026.</a:t>
            </a:r>
          </a:p>
          <a:p xmlns:a="http://schemas.openxmlformats.org/drawingml/2006/main">
            <a:r>
              <a:t>Ограничение: предварительная проверка объявлений пока не реализована.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состав действующего продукта и подтверждённая платформенная модель, 03.08.2026.</a:t>
            </a:r>
          </a:p>
          <a:p xmlns:a="http://schemas.openxmlformats.org/drawingml/2006/main">
            <a:r>
              <a:t>Юридический периметр доли и активов подтверждается в data room после NDA.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продуктовые гипотезы проекта, 03.08.2026.</a:t>
            </a:r>
          </a:p>
          <a:p xmlns:a="http://schemas.openxmlformats.org/drawingml/2006/main">
            <a:r>
              <a:t>Монетизация описана как план; текущая выручка и экономика каналов не заявляются.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план развития продукта и ограничения текущей версии,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согласованная владельцем позиция — приоритетна продажа доли; полный выкуп рассматривается отдельно, 03.08.2026.</a:t>
            </a:r>
          </a:p>
          <a:p xmlns:a="http://schemas.openxmlformats.org/drawingml/2006/main">
            <a:r>
              <a:t>Юридические и финансовые условия требуют отдельного согласования сторон.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согласованный процесс следующего шага, 03.08.2026.</a:t>
            </a:r>
          </a:p>
          <a:p xmlns:a="http://schemas.openxmlformats.org/drawingml/2006/main">
            <a:r>
              <a:t>Контактные данные владелец добавляет перед рассылкой.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354a7f368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972418bd574599" /><Relationship Type="http://schemas.openxmlformats.org/officeDocument/2006/relationships/slideLayout" Target="/ppt/slideLayouts/slideLayout1.xml" Id="R09715051e145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15051e145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b929363e94b6e" /><Relationship Type="http://schemas.openxmlformats.org/officeDocument/2006/relationships/image" Target="/ppt/media/image.bin" Id="R736e4d79322347f3" /><Relationship Type="http://schemas.openxmlformats.org/officeDocument/2006/relationships/notesSlide" Target="/ppt/notesSlides/notesSlide1.xml" Id="Rcd11ad19ab63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f32640d641b6" /><Relationship Type="http://schemas.openxmlformats.org/officeDocument/2006/relationships/notesSlide" Target="/ppt/notesSlides/notesSlide2.xml" Id="Re1447a80d822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c4ef482614f17" /><Relationship Type="http://schemas.openxmlformats.org/officeDocument/2006/relationships/notesSlide" Target="/ppt/notesSlides/notesSlide3.xml" Id="R330d287063a2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5f9ef676143c6" /><Relationship Type="http://schemas.openxmlformats.org/officeDocument/2006/relationships/notesSlide" Target="/ppt/notesSlides/notesSlide4.xml" Id="R0fe81b595921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cb4bace74d74" /><Relationship Type="http://schemas.openxmlformats.org/officeDocument/2006/relationships/image" Target="/ppt/media/image2.bin" Id="R97041025c6eb42d7" /><Relationship Type="http://schemas.openxmlformats.org/officeDocument/2006/relationships/image" Target="/ppt/media/image3.bin" Id="R1c24de509d2d4bbb" /><Relationship Type="http://schemas.openxmlformats.org/officeDocument/2006/relationships/notesSlide" Target="/ppt/notesSlides/notesSlide5.xml" Id="Rd17c86647a154a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0dbd890084206" /><Relationship Type="http://schemas.openxmlformats.org/officeDocument/2006/relationships/notesSlide" Target="/ppt/notesSlides/notesSlide6.xml" Id="R4494cc12f05c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caa0e7a4d4cda" /><Relationship Type="http://schemas.openxmlformats.org/officeDocument/2006/relationships/notesSlide" Target="/ppt/notesSlides/notesSlide7.xml" Id="Rd13c31cd2a4148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0546aa4d24ad5" /><Relationship Type="http://schemas.openxmlformats.org/officeDocument/2006/relationships/notesSlide" Target="/ppt/notesSlides/notesSlide8.xml" Id="R40399560273c47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48f07555d42ad" /><Relationship Type="http://schemas.openxmlformats.org/officeDocument/2006/relationships/notesSlide" Target="/ppt/notesSlides/notesSlide9.xml" Id="R925c5142291d47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56c807f24c28" /><Relationship Type="http://schemas.openxmlformats.org/officeDocument/2006/relationships/notesSlide" Target="/ppt/notesSlides/notesSlide10.xml" Id="R92bd36e2dd8746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d10303064c73" /><Relationship Type="http://schemas.openxmlformats.org/officeDocument/2006/relationships/notesSlide" Target="/ppt/notesSlides/notesSlide11.xml" Id="R1f7eddc4353349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4d79322347f3"/>
          <a:srcRect xmlns:a="http://schemas.openxmlformats.org/drawingml/2006/main" l="25242" t="0" r="25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EED7-8586-430A-9250-CF0F88C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43E"/>
              </a:gs>
              <a:gs pos="100000">
                <a:srgbClr val="10243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B3EF-E32F-4658-9A55-B2AEDC3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БАСТ НЕДВИЖИМОСТЬ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AE5A-39A7-4363-B7AE-A23A31B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Инвестиционный тизер
PropTech-платформы
«БАСТ Недвижимость»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D647-5C30-4FCE-855F-09CE6C3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Приоритетный формат — приобретение доли
и стратегическое участие в развитии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5E17-2811-4772-A6A3-579947A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D9D-4A81-4068-8FC4-4184A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5128-6B3C-471D-A5C5-F1D11B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23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A48B-A959-4A9F-B726-F7CAF7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Главное отличие — открытая сеть совместных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0A7C-B110-4F1F-9ABA-986E47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76EE-80FB-47DE-BE7D-34A485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РАСПРОСТРАНЕНИЕ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2C212-8A6F-495F-B833-321573B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АТРИБУЦИЯ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2F4E-DEAB-477E-9F84-629F53C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ОБЩИЙ ПУЛ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CE45-28C9-4D7E-A876-6FCAE2A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ВЫБОР ПРЕДСТАВИТЕЛЯ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758B-5599-4ED4-8D27-5056AE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62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3548"/>
                </a:solidFill>
              </a:defRPr>
            </a:pPr>
            <a:r>
              <a:rPr sz="2100" b="0">
                <a:solidFill>
                  <a:srgbClr val="223548"/>
                </a:solidFill>
              </a:rPr>
              <a:t>Объект, опубликованный частным продавцом, риэлтором, агентством или застройщиком, становится доступен всей сети одобренных риэлторов.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E711-CD30-49C6-BB5D-510548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F4EA-05C9-4D96-9445-BDE8E63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Платформа фиксирует источник рекомендации, а покупатель сам выбирает специалиста для сделки.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E945-7C08-47AF-81DC-CDEDE24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977F-8C13-4E2A-A461-A710B4D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30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Один объект подключает всю сеть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Объект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опубликован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Риэлтор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делится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Покупатель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переходит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Источник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сохранён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Сделка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оформляется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Ссылка или QR-код сохраняют источник рекомендации. Для сделки покупатель может выбрать другого представителя.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Одна сеть даёт каждой стороне свой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ПОКУПАТЕЛЬ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Каталог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Выбор риэлтора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+ сертификаты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Позже выставит свой объект — сеть поможет продать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РИЭЛТОР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Персональные ссылки и QR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Источник 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Работает самостоятельно или в команде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КОМПАНИЯ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Свои и представляемые объекты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Команда и веб-CRM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по объявлениям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Промоплощадка и распределённая сеть продаж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Компания публикует собственные объекты и объекты застройщиков, которых представляет.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A8B3-B210-49F7-AC69-05EBFB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Одна платформа — два рабочих контура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41025c6eb42d7"/>
          <a:srcRect xmlns:a="http://schemas.openxmlformats.org/drawingml/2006/main" l="3704" t="0" r="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4de509d2d4bbb"/>
          <a:srcRect xmlns:a="http://schemas.openxmlformats.org/drawingml/2006/main" l="13676" t="0" r="13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02B9E-D663-46E5-8FBB-9470C9C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Мобильное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F907-FB3C-4F03-93BC-4C804DB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Частные пользователи и риэлторы работают с объявлениями и сделкой с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3FB5-D30B-48C4-8171-75C1C03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Веб-CRM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52D-8673-4E7B-9672-8A3BB6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Компании ведут каталог, команду, обращения и сделки.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8C15-AA6D-4D0A-B076-E2B75B6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47E7-47B9-48FA-84F8-B248C7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1744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86791-EACC-473D-A951-289A0D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Что уже работает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A43E-4C68-4350-9B8A-AF53B9A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App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D7C9-67CA-4DEA-831B-59EDDD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DA04-A419-4C25-82AB-A8A76A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Google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EBBA-5D83-401F-8EB3-826319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E843-A464-4862-9C9A-08EA4A7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Персональные ссылки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и QR-коды работают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53A4-A205-4C84-8D71-BA34F1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CA78-37E1-435D-889B-1D48DC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Веб-CRM доступна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профессиональным участникам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4BD-9A38-4C2B-92DC-4A3042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06BD-9A52-4F0F-8D92-E36064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Объекты — в Удмуртии. Объявления выходят без проверки; модерация и базовая юридическая проверка — в плане.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8776-6BD4-41E7-85BC-89A621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929D-9959-48F3-BA8A-97DE77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7627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Инвестор получает долю в работающем продуктовом контуре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Приложения в магазинах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Общая модель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СЕТЬ ПРОДАЖ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Ролевые сценарии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Фиксация источника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МАСШТАБИРОВАНИЕ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Новые регионы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Партнёры и команды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Монетизация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Платформа может развиваться самостоятельно или войти в экосистему девелопера, агентской сети, классифайда или банка.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каналов монетизации вокруг сети и сделок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ПОДПИСКА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Профессиональные функции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Управление командой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ТРАНЗАКЦИИ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Комиссия со сделок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Продвижение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Дополнительные сервисы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ПАРТНЁРСТВА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Сертификаты партнёров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Реклама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Совместные программы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Модель монетизации и экономика работы с риэлторами требуют проверки вместе с инвестором.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направлений роста после сделки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Расширить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географию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Подключить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партнёров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Запустить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модерацию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Проверить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монетизацию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Развить CRM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 аналитику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Порядок работ определим вместе с инвестором. Отдельный приоритет — модель вознаграждения участников сделки.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Приоритет — продажа доли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ДОЛЯ У СОБСТВЕННИКА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Инвестор приобретает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согласованную долю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Статус документов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Проект продолжает развиваться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КОМБИНИРОВАННЫЙ ВАРИАНТ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средств собственнику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— в компанию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Контроль активных сделок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Баланс сделки и роста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ПОЛНЫЙ ВЫКУП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Отдельная договорённость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сторон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Статистика и акции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основной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Размер доли, оценку и права инвестора согласуем после демонстрации и 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6F33-5307-4C6E-9D15-6D8A72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236-A0B1-4DE7-A3B0-13386F5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Демонстрация продукта и обсуждение структуры участия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1340-5473-42DA-8536-CBB2179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1. Демонстрация  •  2. NDA и data room  •  3. Условия участия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ADB-7909-4D78-B266-BFDFE8E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732-EDD3-415C-9C02-6F38B31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Контакты и доступ к демонстрации — по запросу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1464-2CCB-4AF0-88B7-9D35C08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4CF"/>
                </a:solidFill>
              </a:defRPr>
            </a:pPr>
            <a:r>
              <a:rPr sz="1350" b="0">
                <a:solidFill>
                  <a:srgbClr val="B8C4CF"/>
                </a:solidFill>
              </a:rPr>
              <a:t>Доля и оценка — после первичной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FA47-7EC6-42AD-8105-752C432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6A9D-5D41-4BE6-9593-ABE4B93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255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2026-08-02T21:45:49.9690000Z</dcterms:created>
  <dcterms:modified xsi:type="dcterms:W3CDTF">2026-08-02T21:45:49.9690000Z</dcterms:modified>
</coreProperties>
</file>