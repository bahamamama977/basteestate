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a47cdc6b0440b8" /><Relationship Type="http://schemas.openxmlformats.org/officeDocument/2006/relationships/extended-properties" Target="/docProps/app.xml" Id="Rcfe16a39bdec4d72" /><Relationship Type="http://schemas.openxmlformats.org/officeDocument/2006/relationships/officeDocument" Target="/ppt/presentation.xml" Id="R720909485743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99169a1bbf4779"/>
  </p:sldMasterIdLst>
  <p:notesMasterIdLst>
    <p:notesMasterId xmlns:r="http://schemas.openxmlformats.org/officeDocument/2006/relationships" r:id="R19961c7fdfc5405b"/>
  </p:notesMasterIdLst>
  <p:sldIdLst>
    <p:sldId xmlns:r="http://schemas.openxmlformats.org/officeDocument/2006/relationships" id="256" r:id="R4b10bc5f54da4306"/>
    <p:sldId xmlns:r="http://schemas.openxmlformats.org/officeDocument/2006/relationships" id="257" r:id="Rfa97471cfc2d4adf"/>
    <p:sldId xmlns:r="http://schemas.openxmlformats.org/officeDocument/2006/relationships" id="258" r:id="R871c9eae3f0e464a"/>
    <p:sldId xmlns:r="http://schemas.openxmlformats.org/officeDocument/2006/relationships" id="259" r:id="R43d02a920f864581"/>
    <p:sldId xmlns:r="http://schemas.openxmlformats.org/officeDocument/2006/relationships" id="260" r:id="R9c1b565e92f34a6b"/>
    <p:sldId xmlns:r="http://schemas.openxmlformats.org/officeDocument/2006/relationships" id="261" r:id="Ra2fc4fcc298447e1"/>
    <p:sldId xmlns:r="http://schemas.openxmlformats.org/officeDocument/2006/relationships" id="262" r:id="Rc54afa4b34cc45c9"/>
    <p:sldId xmlns:r="http://schemas.openxmlformats.org/officeDocument/2006/relationships" id="263" r:id="R1f43e85e905a452d"/>
    <p:sldId xmlns:r="http://schemas.openxmlformats.org/officeDocument/2006/relationships" id="264" r:id="Rb4c23457bccc45ef"/>
    <p:sldId xmlns:r="http://schemas.openxmlformats.org/officeDocument/2006/relationships" id="265" r:id="R31675aa0ec5242cf"/>
    <p:sldId xmlns:r="http://schemas.openxmlformats.org/officeDocument/2006/relationships" id="266" r:id="R8d35c6c41db648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5b87fd0220410a" /><Relationship Type="http://schemas.openxmlformats.org/officeDocument/2006/relationships/slideMaster" Target="/ppt/slideMasters/slideMaster1.xml" Id="R0999169a1bbf4779" /><Relationship Type="http://schemas.openxmlformats.org/officeDocument/2006/relationships/notesMaster" Target="/ppt/notesMasters/notesMaster1.xml" Id="R19961c7fdfc5405b" /><Relationship Type="http://schemas.openxmlformats.org/officeDocument/2006/relationships/presProps" Target="/ppt/presProps.xml" Id="R52ce06fd8c9645af" /><Relationship Type="http://schemas.openxmlformats.org/officeDocument/2006/relationships/tableStyles" Target="/ppt/tableStyles.xml" Id="R3f1cf520849a4f22" /><Relationship Type="http://schemas.openxmlformats.org/officeDocument/2006/relationships/slide" Target="/ppt/slides/slide1.xml" Id="R4b10bc5f54da4306" /><Relationship Type="http://schemas.openxmlformats.org/officeDocument/2006/relationships/slide" Target="/ppt/slides/slide2.xml" Id="Rfa97471cfc2d4adf" /><Relationship Type="http://schemas.openxmlformats.org/officeDocument/2006/relationships/slide" Target="/ppt/slides/slide3.xml" Id="R871c9eae3f0e464a" /><Relationship Type="http://schemas.openxmlformats.org/officeDocument/2006/relationships/slide" Target="/ppt/slides/slide4.xml" Id="R43d02a920f864581" /><Relationship Type="http://schemas.openxmlformats.org/officeDocument/2006/relationships/slide" Target="/ppt/slides/slide5.xml" Id="R9c1b565e92f34a6b" /><Relationship Type="http://schemas.openxmlformats.org/officeDocument/2006/relationships/slide" Target="/ppt/slides/slide6.xml" Id="Ra2fc4fcc298447e1" /><Relationship Type="http://schemas.openxmlformats.org/officeDocument/2006/relationships/slide" Target="/ppt/slides/slide7.xml" Id="Rc54afa4b34cc45c9" /><Relationship Type="http://schemas.openxmlformats.org/officeDocument/2006/relationships/slide" Target="/ppt/slides/slide8.xml" Id="R1f43e85e905a452d" /><Relationship Type="http://schemas.openxmlformats.org/officeDocument/2006/relationships/slide" Target="/ppt/slides/slide9.xml" Id="Rb4c23457bccc45ef" /><Relationship Type="http://schemas.openxmlformats.org/officeDocument/2006/relationships/slide" Target="/ppt/slides/slide10.xml" Id="R31675aa0ec5242cf" /><Relationship Type="http://schemas.openxmlformats.org/officeDocument/2006/relationships/slide" Target="/ppt/slides/slide11.xml" Id="R8d35c6c41db648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fd3e438c4e4c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9ddacc7bf04f7f" /><Relationship Type="http://schemas.openxmlformats.org/officeDocument/2006/relationships/notesMaster" Target="/ppt/notesMasters/notesMaster1.xml" Id="R6345f439b65943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7d326c36f1421a" /><Relationship Type="http://schemas.openxmlformats.org/officeDocument/2006/relationships/notesMaster" Target="/ppt/notesMasters/notesMaster1.xml" Id="R7fcb43d799614b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a9ffe2df484c1d" /><Relationship Type="http://schemas.openxmlformats.org/officeDocument/2006/relationships/notesMaster" Target="/ppt/notesMasters/notesMaster1.xml" Id="Rb2b9dd8e7c7f47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f11b92a6d9448c" /><Relationship Type="http://schemas.openxmlformats.org/officeDocument/2006/relationships/notesMaster" Target="/ppt/notesMasters/notesMaster1.xml" Id="Rca17ab888212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f57a5fe36c4e83" /><Relationship Type="http://schemas.openxmlformats.org/officeDocument/2006/relationships/notesMaster" Target="/ppt/notesMasters/notesMaster1.xml" Id="R056db5e4e69144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d9e43e9aee4a14" /><Relationship Type="http://schemas.openxmlformats.org/officeDocument/2006/relationships/notesMaster" Target="/ppt/notesMasters/notesMaster1.xml" Id="Rd4f1d6b1ed374b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106194ed1d48bd" /><Relationship Type="http://schemas.openxmlformats.org/officeDocument/2006/relationships/notesMaster" Target="/ppt/notesMasters/notesMaster1.xml" Id="R04063f973cf143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238c3dc76e424f" /><Relationship Type="http://schemas.openxmlformats.org/officeDocument/2006/relationships/notesMaster" Target="/ppt/notesMasters/notesMaster1.xml" Id="Rae5f833191884b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a5bd3e02184817" /><Relationship Type="http://schemas.openxmlformats.org/officeDocument/2006/relationships/notesMaster" Target="/ppt/notesMasters/notesMaster1.xml" Id="Ra5917f0a841a47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6e91be1e5a4390" /><Relationship Type="http://schemas.openxmlformats.org/officeDocument/2006/relationships/notesMaster" Target="/ppt/notesMasters/notesMaster1.xml" Id="R59fb41a7b3c04b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854a63cfd74e9a" /><Relationship Type="http://schemas.openxmlformats.org/officeDocument/2006/relationships/notesMaster" Target="/ppt/notesMasters/notesMaster1.xml" Id="Raa791a531da047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материалы проекта и сведения владельца продукта, 03.08.2026.</a:t>
            </a:r>
          </a:p>
          <a:p xmlns:a="http://schemas.openxmlformats.org/drawingml/2006/main">
            <a:r>
              <a:t>Изображение сохранено из исходной презентации проекта.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подтверждённая владельцем продукта механика публикации, рекомендаций и выбора представителя, 03.08.2026.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работающие персональные ссылки и QR-коды; правило фиксации источника рекомендации, 03.08.2026.</a:t>
            </a:r>
          </a:p>
          <a:p xmlns:a="http://schemas.openxmlformats.org/drawingml/2006/main">
            <a:r>
              <a:t>Модель вознаграждения участников сделки ещё не утверждена.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подтверждённые владельцем продукта сценарии покупателя, риэлтора, агентства и застройщика, 03.08.2026.</a:t>
            </a:r>
          </a:p>
          <a:p xmlns:a="http://schemas.openxmlformats.org/drawingml/2006/main">
            <a:r>
              <a:t>Сертификаты «БАСТ» фиксированы для всех сделок и суммируются с акциями застройщика.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приложения в App Store и Google Play; действующая веб-CRM для профессиональных участников, 03.08.2026.</a:t>
            </a:r>
          </a:p>
          <a:p xmlns:a="http://schemas.openxmlformats.org/drawingml/2006/main">
            <a:r>
              <a:t>Изображения сохранены из исходной презентации проекта.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подтверждённое текущее состояние продукта, 03.08.2026.</a:t>
            </a:r>
          </a:p>
          <a:p xmlns:a="http://schemas.openxmlformats.org/drawingml/2006/main">
            <a:r>
              <a:t>Ограничение: предварительная проверка объявлений пока не реализована.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состав действующего продукта и подтверждённая платформенная модель, 03.08.2026.</a:t>
            </a:r>
          </a:p>
          <a:p xmlns:a="http://schemas.openxmlformats.org/drawingml/2006/main">
            <a:r>
              <a:t>Юридический периметр доли и активов подтверждается в data room после NDA.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продуктовые гипотезы проекта, 03.08.2026.</a:t>
            </a:r>
          </a:p>
          <a:p xmlns:a="http://schemas.openxmlformats.org/drawingml/2006/main">
            <a:r>
              <a:t>Монетизация описана как план; текущая выручка и экономика каналов не заявляются.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план развития продукта и ограничения текущей версии, 03.08.2026.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согласованная владельцем позиция — приоритетна продажа доли; полный выкуп рассматривается отдельно, 03.08.2026.</a:t>
            </a:r>
          </a:p>
          <a:p xmlns:a="http://schemas.openxmlformats.org/drawingml/2006/main">
            <a:r>
              <a:t>Юридические и финансовые условия требуют отдельного согласования сторон.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Внутренний источник: согласованный процесс следующего шага, 03.08.2026.</a:t>
            </a:r>
          </a:p>
          <a:p xmlns:a="http://schemas.openxmlformats.org/drawingml/2006/main">
            <a:r>
              <a:t>Контактные данные владелец добавляет перед рассылкой.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6dac637d8041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5bb48737a24b35" /><Relationship Type="http://schemas.openxmlformats.org/officeDocument/2006/relationships/slideLayout" Target="/ppt/slideLayouts/slideLayout1.xml" Id="R7444ac93949b46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44ac93949b46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3ec0210ef410b" /><Relationship Type="http://schemas.openxmlformats.org/officeDocument/2006/relationships/image" Target="/ppt/media/image.bin" Id="R6d0b48d90dbb443e" /><Relationship Type="http://schemas.openxmlformats.org/officeDocument/2006/relationships/notesSlide" Target="/ppt/notesSlides/notesSlide1.xml" Id="R9f6ddd14309d4f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bf741aa384ce0" /><Relationship Type="http://schemas.openxmlformats.org/officeDocument/2006/relationships/notesSlide" Target="/ppt/notesSlides/notesSlide2.xml" Id="R86df1829f2dc42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e0400d15c457e" /><Relationship Type="http://schemas.openxmlformats.org/officeDocument/2006/relationships/notesSlide" Target="/ppt/notesSlides/notesSlide3.xml" Id="Rcba3098b6cdf47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6caeb90354b6d" /><Relationship Type="http://schemas.openxmlformats.org/officeDocument/2006/relationships/notesSlide" Target="/ppt/notesSlides/notesSlide4.xml" Id="R28ebce4ab1914a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88861e77844c7" /><Relationship Type="http://schemas.openxmlformats.org/officeDocument/2006/relationships/image" Target="/ppt/media/image2.bin" Id="R9983cb5262224dc6" /><Relationship Type="http://schemas.openxmlformats.org/officeDocument/2006/relationships/image" Target="/ppt/media/image3.bin" Id="R20b1b9081cd349fb" /><Relationship Type="http://schemas.openxmlformats.org/officeDocument/2006/relationships/notesSlide" Target="/ppt/notesSlides/notesSlide5.xml" Id="R3a11fbda4fb341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e294d52ac4d0d" /><Relationship Type="http://schemas.openxmlformats.org/officeDocument/2006/relationships/notesSlide" Target="/ppt/notesSlides/notesSlide6.xml" Id="R96444a01f76043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bc2a6c7854f84" /><Relationship Type="http://schemas.openxmlformats.org/officeDocument/2006/relationships/notesSlide" Target="/ppt/notesSlides/notesSlide7.xml" Id="R2046ffc2ed634a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29ed67b914a50" /><Relationship Type="http://schemas.openxmlformats.org/officeDocument/2006/relationships/notesSlide" Target="/ppt/notesSlides/notesSlide8.xml" Id="R0e240fdd3f744e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4d71b3e8948c0" /><Relationship Type="http://schemas.openxmlformats.org/officeDocument/2006/relationships/notesSlide" Target="/ppt/notesSlides/notesSlide9.xml" Id="Ra5767793db5a40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02dfed9664a3c" /><Relationship Type="http://schemas.openxmlformats.org/officeDocument/2006/relationships/notesSlide" Target="/ppt/notesSlides/notesSlide10.xml" Id="R1f82425ad37545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0ad9d074a46e8" /><Relationship Type="http://schemas.openxmlformats.org/officeDocument/2006/relationships/notesSlide" Target="/ppt/notesSlides/notesSlide11.xml" Id="R6ee799e0912343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b48d90dbb443e"/>
          <a:srcRect xmlns:a="http://schemas.openxmlformats.org/drawingml/2006/main" l="25242" t="0" r="25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0"/>
            <a:ext cx="5429250" cy="6858000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CEED7-8586-430A-9250-CF0F88C8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2857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243E"/>
              </a:gs>
              <a:gs pos="100000">
                <a:srgbClr val="10243E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7B3EF-E32F-4658-9A55-B2AEDC3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БАСТ НЕДВИЖИМОСТЬ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EAE5A-39A7-4363-B7AE-A23A31B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81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Инвестиционный тизер
PropTech-платформы
«БАСТ Недвижимость»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5D647-5C30-4FCE-855F-09CE6C33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381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Приоритетный формат — приобретение доли
и стратегическое участие в развитии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55E17-2811-4772-A6A3-579947A9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B2D9D-4A81-4068-8FC4-4184ADF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A5128-6B3C-471D-A5C5-F1D11BAB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72354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1A48B-A959-4A9F-B726-F7CAF78F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Главное отличие — открытая сеть совместных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70A7C-B110-4F1F-9ABA-986E47F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ПУБЛИКАЦИЯ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176EE-80FB-47DE-BE7D-34A485B7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РАСПРОСТРАНЕНИЕ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2C212-8A6F-495F-B833-321573BD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669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АТРИБУЦИЯ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72F4E-DEAB-477E-9F84-629F53CF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ОБЩИЙ ПУЛ ОБЪЕКТОВ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8CE45-28C9-4D7E-A876-6FCAE2AE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ВЫБОР ПРЕДСТАВИТЕЛЯ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1758B-5599-4ED4-8D27-5056AE5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9620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223548"/>
                </a:solidFill>
              </a:defRPr>
            </a:pPr>
            <a:r>
              <a:rPr sz="2100" b="0">
                <a:solidFill>
                  <a:srgbClr val="223548"/>
                </a:solidFill>
              </a:rPr>
              <a:t>Объект, опубликованный частным продавцом, риэлтором, агентством или застройщиком, становится доступен всей сети одобренных риэлторов.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EE711-CD30-49C6-BB5D-5105482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9F4EA-05C9-4D96-9445-BDE8E63B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Платформа фиксирует источник рекомендации, а покупатель сам выбирает специалиста для сделки.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7E945-7C08-47AF-81DC-CDEDE24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5977F-8C13-4E2A-A461-A710B4D4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43084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9A7A9-0796-4494-9FC1-B05F12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Один объект подключает всю сеть продаж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FC75A-AEEE-40F9-8AD5-BEF818A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A5F4-2A36-460B-B020-A6612E8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Объект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опубликован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145-336F-4DAB-8194-DD4B58D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F120-4C63-4D45-B731-D81DD2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4C76B-3778-4E02-8031-890153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Риэлтор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делится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3D20-FE1F-4EEB-A791-94B4CE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36F7-EB06-4CF3-9C98-270E148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8DA6-E7D1-4A3F-813D-8E8648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Покупатель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переходит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E821-47BE-4582-BDD7-3E2A60A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27D1-ACAC-433F-AC60-A1B326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8EA2-97CC-4200-9901-7EDEE2A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Источник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сохранён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5D50-B5C4-4EE7-8144-7E228C0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79A0-0047-4391-8806-86931A2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27636-4777-4177-AEBB-E4C722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Сделка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оформляется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7F47-226B-4117-9C4B-FD669E2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3548"/>
                </a:solidFill>
              </a:defRPr>
            </a:pPr>
            <a:r>
              <a:rPr sz="2025" b="0">
                <a:solidFill>
                  <a:srgbClr val="223548"/>
                </a:solidFill>
              </a:rPr>
              <a:t>Ссылка или QR-код сохраняют источник рекомендации. Для сделки покупатель может выбрать другого представителя.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18E6-D454-4EEB-AF0C-5B16011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625" b="1">
                <a:solidFill>
                  <a:srgbClr val="C59B46"/>
                </a:solidFill>
              </a:defRPr>
            </a:pPr>
            <a:r>
              <a:rPr sz="2625" b="1">
                <a:solidFill>
                  <a:srgbClr val="C59B46"/>
                </a:solidFill>
              </a:rPr>
              <a:t>01 →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19C7-DB3E-4244-8B4C-E11B3B7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E813-3977-4722-AE5E-6D8DD64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67779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92C3-8381-4F6E-A8A2-03A4880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Одна сеть даёт каждой стороне свой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6C2C-E3EB-4D6E-A794-2599B0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ПОКУПАТЕЛЬ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E81-674A-4632-92A8-C918B6F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Каталог объектов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Выбор риэлтора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Акции + сертификаты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0FA-F3E9-40D6-8675-92480D8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Позже выставит свой объект — сеть поможет продать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B3CC-A533-4282-BC33-8D4FEB0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136-14B2-4C7D-B0F3-7020AFF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РИЭЛТОР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2401-0A7E-4F9D-A169-C575CA8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Общий пул объектов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Персональные ссылки и QR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Источник рекомендации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4A1D-0E1A-4C8D-A2A0-1D82C82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Работает самостоятельно или в команде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FDDB-24CE-49DF-8F28-9AB9FE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1EC8-D132-430F-AB9A-31D5FBD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КОМПАНИЯ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7578-0198-4AAA-B71F-12CBF8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Свои и представляемые объекты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Команда и веб-CRM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Акции по объявлениям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17AC-A404-4889-822F-0083F4F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Промоплощадка и распределённая сеть продаж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B696-ECC3-44C8-9595-222C267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6BA8-6166-4DDD-9D1E-3BFFD4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CE4EA"/>
                </a:solidFill>
              </a:defRPr>
            </a:pPr>
            <a:r>
              <a:rPr sz="1800" b="1">
                <a:solidFill>
                  <a:srgbClr val="DCE4EA"/>
                </a:solidFill>
              </a:rPr>
              <a:t>Компания публикует собственные объекты и объекты застройщиков, которых представляет.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4EEF-1011-4FFF-84A9-451C830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344-0C60-428F-AC21-5E026BB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20756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2A8B3-B210-49F7-AC69-05EBFB82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Одна платформа — два рабочих контура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3cb5262224dc6"/>
          <a:srcRect xmlns:a="http://schemas.openxmlformats.org/drawingml/2006/main" l="3704" t="0" r="3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1b9081cd349fb"/>
          <a:srcRect xmlns:a="http://schemas.openxmlformats.org/drawingml/2006/main" l="13676" t="0" r="136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24000"/>
            <a:ext cx="476250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02B9E-D663-46E5-8FBB-9470C9C6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Мобильное приложение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1F907-FB3C-4F03-93BC-4C804DBB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Частные пользователи и риэлторы работают с объявлениями и сделкой с телефона.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93FB5-D30B-48C4-8171-75C1C034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81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43E"/>
                </a:solidFill>
              </a:defRPr>
            </a:pPr>
            <a:r>
              <a:rPr sz="1875" b="1">
                <a:solidFill>
                  <a:srgbClr val="10243E"/>
                </a:solidFill>
              </a:rPr>
              <a:t>Веб-CRM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BC52D-8673-4E7B-9672-8A3BB69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62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Компании ведут каталог, команду, обращения и сделки.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28C15-AA6D-4D0A-B076-E2B75B66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747E7-47B9-48FA-84F8-B248C73A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1744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86791-EACC-473D-A951-289A0D93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Что уже работает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FA43E-4C68-4350-9B8A-AF53B9AA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 App 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8D7C9-67CA-4DEA-831B-59EDDD51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0DA04-A419-4C25-82AB-A8A76A09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Приложение опубликовано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 Google Play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2EBBA-5D83-401F-8EB3-82631933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CE843-A464-4862-9C9A-08EA4A7C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Персональные ссылки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и QR-коды работают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C53A4-A205-4C84-8D71-BA34F1ED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6CA78-37E1-435D-889B-1D48DC0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Веб-CRM доступна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10243E"/>
                </a:solidFill>
              </a:defRPr>
            </a:pPr>
            <a:r>
              <a:rPr sz="2250" b="1">
                <a:solidFill>
                  <a:srgbClr val="10243E"/>
                </a:solidFill>
              </a:rPr>
              <a:t>профессиональным участникам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394BD-9A38-4C2B-92DC-4A30423E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706BD-9A52-4F0F-8D92-E36064C1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98A"/>
                </a:solidFill>
              </a:defRPr>
            </a:pPr>
            <a:r>
              <a:rPr sz="1350" b="0">
                <a:solidFill>
                  <a:srgbClr val="66798A"/>
                </a:solidFill>
              </a:rPr>
              <a:t>Объекты — в Удмуртии. Объявления выходят без проверки; модерация и базовая юридическая проверка — в плане.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98776-6BD4-41E7-85BC-89A621BC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4929D-9959-48F3-BA8A-97DE77A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7627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EDD1-16BA-445F-95A8-D2B931E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Инвестор получает долю в работающем продуктовом контуре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E7B5-90B5-4E60-89AB-5F6EE83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ПРОДУКТ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D3BF-7B60-4864-8125-45DCDD0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Приложения в магазинах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Веб-CRM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Общая модель данных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D457-FB02-4D15-8C46-0A18378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СЕТЬ ПРОДАЖ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9BAD-DDF6-4697-A80C-CFB3067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Общий пул объектов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Ролевые сценарии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Фиксация источника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5A6E-3DBD-45F7-8AD0-08CAD9A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МАСШТАБИРОВАНИЕ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2D0-8E7D-4EA0-9E1F-3895B31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Новые регионы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Партнёры и команды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Монетизация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9C04-4982-4C15-B054-CD075FF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3548"/>
                </a:solidFill>
              </a:defRPr>
            </a:pPr>
            <a:r>
              <a:rPr sz="1800" b="0">
                <a:solidFill>
                  <a:srgbClr val="223548"/>
                </a:solidFill>
              </a:rPr>
              <a:t>Платформа может развиваться самостоятельно или войти в экосистему девелопера, агентской сети, классифайда или банка.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A529-DBD1-47BF-845C-A76CBD3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6B4EB-34DD-48BE-9CCE-1FA6A2F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1587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5EDD1-16BA-445F-95A8-D2B931EF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Пять каналов монетизации вокруг сети и сделок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DE7B5-90B5-4E60-89AB-5F6EE837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ПОДПИСКА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CD3BF-7B60-4864-8125-45DCDD0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Веб-CRM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Управление командой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Расширенные функции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2D457-FB02-4D15-8C46-0A18378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ТРАНЗАКЦИИ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29BAD-DDF6-4697-A80C-CFB3067C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Комиссия со сделок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Продвижение объектов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Дополнительные сервисы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F5A6E-3DBD-45F7-8AD0-08CAD9A0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9B46"/>
                </a:solidFill>
              </a:defRPr>
            </a:pPr>
            <a:r>
              <a:rPr sz="1650" b="1">
                <a:solidFill>
                  <a:srgbClr val="C59B46"/>
                </a:solidFill>
              </a:rPr>
              <a:t>ПАРТНЁРСТВА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F2D0-8E7D-4EA0-9E1F-3895B31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336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Сертификаты партнёров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Реклама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43E"/>
                </a:solidFill>
              </a:defRPr>
            </a:pPr>
            <a:r>
              <a:rPr sz="1950" b="1">
                <a:solidFill>
                  <a:srgbClr val="10243E"/>
                </a:solidFill>
              </a:rPr>
              <a:t>Совместные программы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29C04-4982-4C15-B054-CD075FF2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23548"/>
                </a:solidFill>
              </a:defRPr>
            </a:pPr>
            <a:r>
              <a:rPr sz="1800" b="0">
                <a:solidFill>
                  <a:srgbClr val="223548"/>
                </a:solidFill>
              </a:rPr>
              <a:t>Модель монетизации и экономика работы с риэлторами требуют проверки вместе с инвестором.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A529-DBD1-47BF-845C-A76CBD37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6B4EB-34DD-48BE-9CCE-1FA6A2F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1587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2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9A7A9-0796-4494-9FC1-B05F1269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43E"/>
                </a:solidFill>
              </a:defRPr>
            </a:pPr>
            <a:r>
              <a:rPr sz="2850" b="1">
                <a:solidFill>
                  <a:srgbClr val="10243E"/>
                </a:solidFill>
              </a:rPr>
              <a:t>Пять направлений роста после сделки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FC75A-AEEE-40F9-8AD5-BEF818A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7A5F4-2A36-460B-B020-A6612E8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Расширить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географию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14145-336F-4DAB-8194-DD4B58D5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1F120-4C63-4D45-B731-D81DD2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4C76B-3778-4E02-8031-8901535D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Подключить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партнёров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3D20-FE1F-4EEB-A791-94B4CE1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36F7-EB06-4CF3-9C98-270E1489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C8DA6-E7D1-4A3F-813D-8E8648B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Запустить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модерацию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E821-47BE-4582-BDD7-3E2A60AE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527D1-ACAC-433F-AC60-A1B326C4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18EA2-97CC-4200-9901-7EDEE2A2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Проверить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монетизацию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E5D50-B5C4-4EE7-8144-7E228C0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3855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4CE"/>
          </a:solidFill>
          <a:ln xmlns:a="http://schemas.openxmlformats.org/drawingml/2006/main" w="0">
            <a:solidFill>
              <a:srgbClr val="B9C4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179A0-0047-4391-8806-86931A2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59B46"/>
                </a:solidFill>
              </a:defRPr>
            </a:pPr>
            <a:r>
              <a:rPr sz="1350" b="1">
                <a:solidFill>
                  <a:srgbClr val="C59B46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27636-4777-4177-AEBB-E4C7224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1762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Развить CRM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10243E"/>
                </a:solidFill>
              </a:defRPr>
            </a:pPr>
            <a:r>
              <a:rPr sz="2025" b="1">
                <a:solidFill>
                  <a:srgbClr val="10243E"/>
                </a:solidFill>
              </a:rPr>
              <a:t>и аналитику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87F47-226B-4117-9C4B-FD669E25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23548"/>
                </a:solidFill>
              </a:defRPr>
            </a:pPr>
            <a:r>
              <a:rPr sz="2025" b="0">
                <a:solidFill>
                  <a:srgbClr val="223548"/>
                </a:solidFill>
              </a:rPr>
              <a:t>Порядок работ определим вместе с инвестором. Отдельный приоритет — модель вознаграждения участников сделки.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F18E6-D454-4EEB-AF0C-5B160111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76750"/>
            <a:ext cx="1885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625" b="1">
                <a:solidFill>
                  <a:srgbClr val="C59B46"/>
                </a:solidFill>
              </a:defRPr>
            </a:pPr>
            <a:r>
              <a:rPr sz="2625" b="1">
                <a:solidFill>
                  <a:srgbClr val="C59B46"/>
                </a:solidFill>
              </a:rPr>
              <a:t>01 → 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919C7-DB3E-4244-8B4C-E11B3B73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DCE813-3977-4722-AE5E-6D8DD64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6798A"/>
                </a:solidFill>
              </a:defRPr>
            </a:pPr>
            <a:r>
              <a:rPr sz="825" b="1">
                <a:solidFill>
                  <a:srgbClr val="66798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7779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A192C3-8381-4F6E-A8A2-03A48808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Приоритет — продажа доли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B6C2C-E3EB-4D6E-A794-2599B009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ДОЛЯ У СОБСТВЕННИКА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88E81-674A-4632-92A8-C918B6F9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Инвестор приобретает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согласованную долю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10FA-F3E9-40D6-8675-92480D8E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Проект продолжает развиваться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9B3CC-A533-4282-BC33-8D4FEB0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B6136-14B2-4C7D-B0F3-7020AFFC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КОМБИНИРОВАННЫЙ ВАРИАНТ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D2401-0A7E-4F9D-A169-C575CA88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Часть средств собственнику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Часть — в компанию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64A1D-0E1A-4C8D-A2A0-1D82C82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Баланс сделки и роста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8FDDB-24CE-49DF-8F28-9AB9FED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1EC8-D132-430F-AB9A-31D5FBD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C59B46"/>
                </a:solidFill>
              </a:defRPr>
            </a:pPr>
            <a:r>
              <a:rPr sz="1800" b="1">
                <a:solidFill>
                  <a:srgbClr val="C59B46"/>
                </a:solidFill>
              </a:rPr>
              <a:t>ПОЛНЫЙ ВЫКУП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D7578-0198-4AAA-B71F-12CBF84E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Отдельная договорённость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сторон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917AC-A404-4889-822F-0083F4F9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8B567"/>
                </a:solidFill>
              </a:defRPr>
            </a:pPr>
            <a:r>
              <a:rPr sz="1275" b="1">
                <a:solidFill>
                  <a:srgbClr val="D8B567"/>
                </a:solidFill>
              </a:rPr>
              <a:t>Не основной сценарий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28B696-ECC3-44C8-9595-222C267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16C"/>
          </a:solidFill>
          <a:ln xmlns:a="http://schemas.openxmlformats.org/drawingml/2006/main" w="0">
            <a:solidFill>
              <a:srgbClr val="33516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96BA8-6166-4DDD-9D1E-3BFFD48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DCE4EA"/>
                </a:solidFill>
              </a:defRPr>
            </a:pPr>
            <a:r>
              <a:rPr sz="1800" b="1">
                <a:solidFill>
                  <a:srgbClr val="DCE4EA"/>
                </a:solidFill>
              </a:rPr>
              <a:t>Размер доли, оценку и права инвестора согласуем после демонстрации и NDA.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4EEF-1011-4FFF-84A9-451C830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D3344-0C60-428F-AC21-5E026BB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20756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86F33-5307-4C6E-9D15-6D8A7240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59B46"/>
                </a:solidFill>
              </a:defRPr>
            </a:pPr>
            <a:r>
              <a:rPr sz="1275" b="1">
                <a:solidFill>
                  <a:srgbClr val="C59B46"/>
                </a:solidFill>
              </a:rPr>
              <a:t>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42236-A0B1-4DE7-A3B0-13386F59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95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Демонстрация продукта и обсуждение структуры участия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E1340-5473-42DA-8536-CBB2179F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CE4EA"/>
                </a:solidFill>
              </a:defRPr>
            </a:pPr>
            <a:r>
              <a:rPr sz="1800" b="0">
                <a:solidFill>
                  <a:srgbClr val="DCE4EA"/>
                </a:solidFill>
              </a:rPr>
              <a:t>1. Демонстрация  •  2. NDA и data room  •  3. Условия участия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30ADB-7909-4D78-B266-BFDFE8E7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B46"/>
          </a:solidFill>
          <a:ln xmlns:a="http://schemas.openxmlformats.org/drawingml/2006/main" w="0">
            <a:solidFill>
              <a:srgbClr val="C59B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3F732-EDD3-415C-9C02-6F38B312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Контакты и доступ к демонстрации — по запросу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41464-2CCB-4AF0-88B7-9D35C08A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B8C4CF"/>
                </a:solidFill>
              </a:defRPr>
            </a:pPr>
            <a:r>
              <a:rPr sz="1350" b="0">
                <a:solidFill>
                  <a:srgbClr val="B8C4CF"/>
                </a:solidFill>
              </a:rPr>
              <a:t>Доля и оценка — после первичной встречи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7FA47-7EC6-42AD-8105-752C4327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БАСТ НЕДВИЖИМОСТЬ   •   КОНФИДЕНЦИАЛЬНО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56A9D-5D41-4BE6-9593-ABE4B93E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B8C4CF"/>
                </a:solidFill>
              </a:defRPr>
            </a:pPr>
            <a:r>
              <a:rPr sz="825" b="1">
                <a:solidFill>
                  <a:srgbClr val="B8C4CF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255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2026-08-02T22:16:43.8110000Z</dcterms:created>
  <dcterms:modified xsi:type="dcterms:W3CDTF">2026-08-02T22:16:43.8110000Z</dcterms:modified>
</coreProperties>
</file>