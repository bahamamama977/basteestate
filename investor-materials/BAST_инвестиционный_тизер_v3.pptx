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476fa372b1473d" /><Relationship Type="http://schemas.openxmlformats.org/officeDocument/2006/relationships/extended-properties" Target="/docProps/app.xml" Id="Rbb6d597f9aab4e4e" /><Relationship Type="http://schemas.openxmlformats.org/officeDocument/2006/relationships/officeDocument" Target="/ppt/presentation.xml" Id="R1526e431c1c649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11773d2ba542e7"/>
  </p:sldMasterIdLst>
  <p:notesMasterIdLst>
    <p:notesMasterId xmlns:r="http://schemas.openxmlformats.org/officeDocument/2006/relationships" r:id="Rdc45bd76db5141f4"/>
  </p:notesMasterIdLst>
  <p:sldIdLst>
    <p:sldId xmlns:r="http://schemas.openxmlformats.org/officeDocument/2006/relationships" id="256" r:id="R892d3d7d47a047fc"/>
    <p:sldId xmlns:r="http://schemas.openxmlformats.org/officeDocument/2006/relationships" id="257" r:id="Rc60483df971f4500"/>
    <p:sldId xmlns:r="http://schemas.openxmlformats.org/officeDocument/2006/relationships" id="258" r:id="R641a94b8a7474af9"/>
    <p:sldId xmlns:r="http://schemas.openxmlformats.org/officeDocument/2006/relationships" id="259" r:id="R49d7a6f5c3114cf6"/>
    <p:sldId xmlns:r="http://schemas.openxmlformats.org/officeDocument/2006/relationships" id="260" r:id="Rc2874db01dca4073"/>
    <p:sldId xmlns:r="http://schemas.openxmlformats.org/officeDocument/2006/relationships" id="261" r:id="R6c327eb5b5e048ed"/>
    <p:sldId xmlns:r="http://schemas.openxmlformats.org/officeDocument/2006/relationships" id="262" r:id="Raa81f63c7bcd47dc"/>
    <p:sldId xmlns:r="http://schemas.openxmlformats.org/officeDocument/2006/relationships" id="263" r:id="Re0d9e20418dd46f5"/>
    <p:sldId xmlns:r="http://schemas.openxmlformats.org/officeDocument/2006/relationships" id="264" r:id="Rdb86c8ab554540b6"/>
    <p:sldId xmlns:r="http://schemas.openxmlformats.org/officeDocument/2006/relationships" id="265" r:id="R6fde06c6ffdc4802"/>
    <p:sldId xmlns:r="http://schemas.openxmlformats.org/officeDocument/2006/relationships" id="266" r:id="R96b7c6c2e28f41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45e3eccd394e3c" /><Relationship Type="http://schemas.openxmlformats.org/officeDocument/2006/relationships/slideMaster" Target="/ppt/slideMasters/slideMaster1.xml" Id="R0b11773d2ba542e7" /><Relationship Type="http://schemas.openxmlformats.org/officeDocument/2006/relationships/notesMaster" Target="/ppt/notesMasters/notesMaster1.xml" Id="Rdc45bd76db5141f4" /><Relationship Type="http://schemas.openxmlformats.org/officeDocument/2006/relationships/presProps" Target="/ppt/presProps.xml" Id="R65b720c48a3f45ae" /><Relationship Type="http://schemas.openxmlformats.org/officeDocument/2006/relationships/tableStyles" Target="/ppt/tableStyles.xml" Id="R18490e7086e34ce5" /><Relationship Type="http://schemas.openxmlformats.org/officeDocument/2006/relationships/slide" Target="/ppt/slides/slide1.xml" Id="R892d3d7d47a047fc" /><Relationship Type="http://schemas.openxmlformats.org/officeDocument/2006/relationships/slide" Target="/ppt/slides/slide2.xml" Id="Rc60483df971f4500" /><Relationship Type="http://schemas.openxmlformats.org/officeDocument/2006/relationships/slide" Target="/ppt/slides/slide3.xml" Id="R641a94b8a7474af9" /><Relationship Type="http://schemas.openxmlformats.org/officeDocument/2006/relationships/slide" Target="/ppt/slides/slide4.xml" Id="R49d7a6f5c3114cf6" /><Relationship Type="http://schemas.openxmlformats.org/officeDocument/2006/relationships/slide" Target="/ppt/slides/slide5.xml" Id="Rc2874db01dca4073" /><Relationship Type="http://schemas.openxmlformats.org/officeDocument/2006/relationships/slide" Target="/ppt/slides/slide6.xml" Id="R6c327eb5b5e048ed" /><Relationship Type="http://schemas.openxmlformats.org/officeDocument/2006/relationships/slide" Target="/ppt/slides/slide7.xml" Id="Raa81f63c7bcd47dc" /><Relationship Type="http://schemas.openxmlformats.org/officeDocument/2006/relationships/slide" Target="/ppt/slides/slide8.xml" Id="Re0d9e20418dd46f5" /><Relationship Type="http://schemas.openxmlformats.org/officeDocument/2006/relationships/slide" Target="/ppt/slides/slide9.xml" Id="Rdb86c8ab554540b6" /><Relationship Type="http://schemas.openxmlformats.org/officeDocument/2006/relationships/slide" Target="/ppt/slides/slide10.xml" Id="R6fde06c6ffdc4802" /><Relationship Type="http://schemas.openxmlformats.org/officeDocument/2006/relationships/slide" Target="/ppt/slides/slide11.xml" Id="R96b7c6c2e28f41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29d0adfa0f4a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3697cc62804a05" /><Relationship Type="http://schemas.openxmlformats.org/officeDocument/2006/relationships/notesMaster" Target="/ppt/notesMasters/notesMaster1.xml" Id="R375d19dac4b348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eb7418e53c4fc0" /><Relationship Type="http://schemas.openxmlformats.org/officeDocument/2006/relationships/notesMaster" Target="/ppt/notesMasters/notesMaster1.xml" Id="R594c662e168e48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41c79ac28949cd" /><Relationship Type="http://schemas.openxmlformats.org/officeDocument/2006/relationships/notesMaster" Target="/ppt/notesMasters/notesMaster1.xml" Id="R214c29bfaaa844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89b279836544e7" /><Relationship Type="http://schemas.openxmlformats.org/officeDocument/2006/relationships/notesMaster" Target="/ppt/notesMasters/notesMaster1.xml" Id="Ra6153ce7d23e4c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f9f9cced384672" /><Relationship Type="http://schemas.openxmlformats.org/officeDocument/2006/relationships/notesMaster" Target="/ppt/notesMasters/notesMaster1.xml" Id="R7f81ff44c7074d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783b58e7f14fff" /><Relationship Type="http://schemas.openxmlformats.org/officeDocument/2006/relationships/notesMaster" Target="/ppt/notesMasters/notesMaster1.xml" Id="Rceea78de271e40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eedcda48a84ffc" /><Relationship Type="http://schemas.openxmlformats.org/officeDocument/2006/relationships/notesMaster" Target="/ppt/notesMasters/notesMaster1.xml" Id="Rd95bd3d6f80f43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c5700da6a74065" /><Relationship Type="http://schemas.openxmlformats.org/officeDocument/2006/relationships/notesMaster" Target="/ppt/notesMasters/notesMaster1.xml" Id="Re7991b145e984b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c435935a8e42db" /><Relationship Type="http://schemas.openxmlformats.org/officeDocument/2006/relationships/notesMaster" Target="/ppt/notesMasters/notesMaster1.xml" Id="Rdf9f0b2bc9aa47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e3c3ad8f5ac4d9d" /><Relationship Type="http://schemas.openxmlformats.org/officeDocument/2006/relationships/notesMaster" Target="/ppt/notesMasters/notesMaster1.xml" Id="R60ab8bca419545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32bf9abeede4ed2" /><Relationship Type="http://schemas.openxmlformats.org/officeDocument/2006/relationships/notesMaster" Target="/ppt/notesMasters/notesMaster1.xml" Id="R7f56d6f7707046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материалы проекта и сведения владельца продукта, 03.08.2026.</a:t>
            </a:r>
          </a:p>
          <a:p xmlns:a="http://schemas.openxmlformats.org/drawingml/2006/main">
            <a:r>
              <a:t>Изображение сохранено из исходной презентации проекта.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подтверждённая владельцем продукта механика публикации, рекомендаций и выбора представителя, 03.08.2026.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работающие персональные ссылки и QR-коды; правило фиксации источника рекомендации, 03.08.2026.</a:t>
            </a:r>
          </a:p>
          <a:p xmlns:a="http://schemas.openxmlformats.org/drawingml/2006/main">
            <a:r>
              <a:t>Модель вознаграждения участников сделки ещё не утверждена.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подтверждённые владельцем продукта сценарии покупателя, риэлтора, агентства и застройщика, 03.08.2026.</a:t>
            </a:r>
          </a:p>
          <a:p xmlns:a="http://schemas.openxmlformats.org/drawingml/2006/main">
            <a:r>
              <a:t>Сертификаты «БАСТ» фиксированы для всех сделок и суммируются с акциями застройщика.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приложения в App Store и Google Play; действующая веб-CRM для профессиональных участников, 03.08.2026.</a:t>
            </a:r>
          </a:p>
          <a:p xmlns:a="http://schemas.openxmlformats.org/drawingml/2006/main">
            <a:r>
              <a:t>Изображения сохранены из исходной презентации проекта.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подтверждённое текущее состояние продукта, 03.08.2026.</a:t>
            </a:r>
          </a:p>
          <a:p xmlns:a="http://schemas.openxmlformats.org/drawingml/2006/main">
            <a:r>
              <a:t>Ограничение: предварительная проверка объявлений пока не реализована.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состав действующего продукта и подтверждённая платформенная модель, 03.08.2026.</a:t>
            </a:r>
          </a:p>
          <a:p xmlns:a="http://schemas.openxmlformats.org/drawingml/2006/main">
            <a:r>
              <a:t>Юридический периметр доли и активов подтверждается в data room после NDA.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продуктовые гипотезы проекта, 03.08.2026.</a:t>
            </a:r>
          </a:p>
          <a:p xmlns:a="http://schemas.openxmlformats.org/drawingml/2006/main">
            <a:r>
              <a:t>Монетизация описана как план; текущая выручка и экономика каналов не заявляются.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план развития продукта и ограничения текущей версии, 03.08.2026.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согласованная владельцем позиция — приоритетна продажа доли; полный выкуп рассматривается отдельно, 03.08.2026.</a:t>
            </a:r>
          </a:p>
          <a:p xmlns:a="http://schemas.openxmlformats.org/drawingml/2006/main">
            <a:r>
              <a:t>Юридические и финансовые условия требуют отдельного согласования сторон.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согласованный процесс следующего шага, 03.08.2026.</a:t>
            </a:r>
          </a:p>
          <a:p xmlns:a="http://schemas.openxmlformats.org/drawingml/2006/main">
            <a:r>
              <a:t>Контактные данные владелец добавляет перед рассылкой.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ba35d8070948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545f49e8df417e" /><Relationship Type="http://schemas.openxmlformats.org/officeDocument/2006/relationships/slideLayout" Target="/ppt/slideLayouts/slideLayout1.xml" Id="R85ab5fe46ee94b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ab5fe46ee94b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b107733b447ae" /><Relationship Type="http://schemas.openxmlformats.org/officeDocument/2006/relationships/image" Target="/ppt/media/image.bin" Id="Rdd2c2037293046c3" /><Relationship Type="http://schemas.openxmlformats.org/officeDocument/2006/relationships/notesSlide" Target="/ppt/notesSlides/notesSlide1.xml" Id="R7fe4530afc144b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e00047e5a4076" /><Relationship Type="http://schemas.openxmlformats.org/officeDocument/2006/relationships/notesSlide" Target="/ppt/notesSlides/notesSlide2.xml" Id="R6be5b4bb7c514d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96c1cc816495c" /><Relationship Type="http://schemas.openxmlformats.org/officeDocument/2006/relationships/notesSlide" Target="/ppt/notesSlides/notesSlide3.xml" Id="Rf8849912ee474c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8060c002c41d1" /><Relationship Type="http://schemas.openxmlformats.org/officeDocument/2006/relationships/notesSlide" Target="/ppt/notesSlides/notesSlide4.xml" Id="Ra29f368e273643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6b0f26d24471b" /><Relationship Type="http://schemas.openxmlformats.org/officeDocument/2006/relationships/image" Target="/ppt/media/image2.bin" Id="R1ad055a0c39d4ef5" /><Relationship Type="http://schemas.openxmlformats.org/officeDocument/2006/relationships/image" Target="/ppt/media/image3.bin" Id="R277883a9ce474972" /><Relationship Type="http://schemas.openxmlformats.org/officeDocument/2006/relationships/notesSlide" Target="/ppt/notesSlides/notesSlide5.xml" Id="R6d246515014042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f1c5558474d88" /><Relationship Type="http://schemas.openxmlformats.org/officeDocument/2006/relationships/notesSlide" Target="/ppt/notesSlides/notesSlide6.xml" Id="R738ffe1063804e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0484212aa41b1" /><Relationship Type="http://schemas.openxmlformats.org/officeDocument/2006/relationships/notesSlide" Target="/ppt/notesSlides/notesSlide7.xml" Id="R653dbe08357a44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00d4d4fdb4e62" /><Relationship Type="http://schemas.openxmlformats.org/officeDocument/2006/relationships/notesSlide" Target="/ppt/notesSlides/notesSlide8.xml" Id="R2def8e320dc548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6d2e2a86043e6" /><Relationship Type="http://schemas.openxmlformats.org/officeDocument/2006/relationships/notesSlide" Target="/ppt/notesSlides/notesSlide9.xml" Id="R52ecf980619a4c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03c7f95804d5b" /><Relationship Type="http://schemas.openxmlformats.org/officeDocument/2006/relationships/notesSlide" Target="/ppt/notesSlides/notesSlide10.xml" Id="R1f01fd82f48d4e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a85c84a894d3b" /><Relationship Type="http://schemas.openxmlformats.org/officeDocument/2006/relationships/notesSlide" Target="/ppt/notesSlides/notesSlide11.xml" Id="R7f7600081ef84b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2c2037293046c3"/>
          <a:srcRect xmlns:a="http://schemas.openxmlformats.org/drawingml/2006/main" l="25242" t="0" r="252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0"/>
            <a:ext cx="5429250" cy="6858000"/>
          </a:xfrm>
          <a:prstGeom xmlns:a="http://schemas.openxmlformats.org/drawingml/2006/main" prst="roundRect">
            <a:avLst>
              <a:gd name="adj" fmla="val 2807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CEED7-8586-430A-9250-CF0F88C8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28575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0243E"/>
              </a:gs>
              <a:gs pos="100000">
                <a:srgbClr val="10243E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7B3EF-E32F-4658-9A55-B2AEDC30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59B46"/>
                </a:solidFill>
              </a:defRPr>
            </a:pPr>
            <a:r>
              <a:rPr sz="1275" b="1">
                <a:solidFill>
                  <a:srgbClr val="C59B46"/>
                </a:solidFill>
              </a:rPr>
              <a:t>БАСТ НЕДВИЖИМОСТЬ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EAE5A-39A7-4363-B7AE-A23A31BB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810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Инвестиционный тизер
PropTech-платформы
«БАСТ Недвижимость»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5D647-5C30-4FCE-855F-09CE6C33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381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CE4EA"/>
                </a:solidFill>
              </a:defRPr>
            </a:pPr>
            <a:r>
              <a:rPr sz="1800" b="0">
                <a:solidFill>
                  <a:srgbClr val="DCE4EA"/>
                </a:solidFill>
              </a:rPr>
              <a:t>Приоритетный формат — приобретение доли
и стратегическое участие в развитии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55E17-2811-4772-A6A3-579947A9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B46"/>
          </a:solidFill>
          <a:ln xmlns:a="http://schemas.openxmlformats.org/drawingml/2006/main" w="0">
            <a:solidFill>
              <a:srgbClr val="C59B4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B2D9D-4A81-4068-8FC4-4184ADFD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B8C4CF"/>
                </a:solidFill>
              </a:defRPr>
            </a:pPr>
            <a:r>
              <a:rPr sz="825" b="1">
                <a:solidFill>
                  <a:srgbClr val="B8C4CF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FA5128-6B3C-471D-A5C5-F1D11BAB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C4CF"/>
                </a:solidFill>
              </a:defRPr>
            </a:pPr>
            <a:r>
              <a:rPr sz="825" b="1">
                <a:solidFill>
                  <a:srgbClr val="B8C4C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672354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71A48B-A959-4A9F-B726-F7CAF78F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43E"/>
                </a:solidFill>
              </a:defRPr>
            </a:pPr>
            <a:r>
              <a:rPr sz="2850" b="1">
                <a:solidFill>
                  <a:srgbClr val="10243E"/>
                </a:solidFill>
              </a:rPr>
              <a:t>Главное отличие — открытая сеть совместных продаж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70A7C-B110-4F1F-9ABA-986E47F0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43E"/>
                </a:solidFill>
              </a:defRPr>
            </a:pPr>
            <a:r>
              <a:rPr sz="1875" b="1">
                <a:solidFill>
                  <a:srgbClr val="10243E"/>
                </a:solidFill>
              </a:rPr>
              <a:t>ПУБЛИКАЦИЯ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176EE-80FB-47DE-BE7D-34A485B7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669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43E"/>
                </a:solidFill>
              </a:defRPr>
            </a:pPr>
            <a:r>
              <a:rPr sz="1875" b="1">
                <a:solidFill>
                  <a:srgbClr val="10243E"/>
                </a:solidFill>
              </a:rPr>
              <a:t>РАСПРОСТРАНЕНИЕ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12C212-8A6F-495F-B833-321573BD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669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43E"/>
                </a:solidFill>
              </a:defRPr>
            </a:pPr>
            <a:r>
              <a:rPr sz="1875" b="1">
                <a:solidFill>
                  <a:srgbClr val="10243E"/>
                </a:solidFill>
              </a:rPr>
              <a:t>АТРИБУЦИЯ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72F4E-DEAB-477E-9F84-629F53CF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43E"/>
                </a:solidFill>
              </a:defRPr>
            </a:pPr>
            <a:r>
              <a:rPr sz="1875" b="1">
                <a:solidFill>
                  <a:srgbClr val="10243E"/>
                </a:solidFill>
              </a:rPr>
              <a:t>ОБЩИЙ ПУЛ ОБЪЕКТОВ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8CE45-28C9-4D7E-A876-6FCAE2AE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95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43E"/>
                </a:solidFill>
              </a:defRPr>
            </a:pPr>
            <a:r>
              <a:rPr sz="1875" b="1">
                <a:solidFill>
                  <a:srgbClr val="10243E"/>
                </a:solidFill>
              </a:rPr>
              <a:t>ВЫБОР ПРЕДСТАВИТЕЛЯ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1758B-5599-4ED4-8D27-5056AE54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9620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23548"/>
                </a:solidFill>
              </a:defRPr>
            </a:pPr>
            <a:r>
              <a:rPr sz="2100" b="0">
                <a:solidFill>
                  <a:srgbClr val="223548"/>
                </a:solidFill>
              </a:rPr>
              <a:t>Объект, опубликованный частным продавцом, риэлтором, агентством или застройщиком, становится доступен всей сети одобренных риэлторов.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EE711-CD30-49C6-BB5D-51054820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9585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B46"/>
          </a:solidFill>
          <a:ln xmlns:a="http://schemas.openxmlformats.org/drawingml/2006/main" w="0">
            <a:solidFill>
              <a:srgbClr val="C59B4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19F4EA-05C9-4D96-9445-BDE8E63B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Платформа фиксирует источник рекомендации, а покупатель сам выбирает специалиста для сделки.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7E945-7C08-47AF-81DC-CDEDE247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55977F-8C13-4E2A-A461-A710B4D4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143084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2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09A7A9-0796-4494-9FC1-B05F1269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43E"/>
                </a:solidFill>
              </a:defRPr>
            </a:pPr>
            <a:r>
              <a:rPr sz="2850" b="1">
                <a:solidFill>
                  <a:srgbClr val="10243E"/>
                </a:solidFill>
              </a:rPr>
              <a:t>Один объект подключает всю сеть продаж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FC75A-AEEE-40F9-8AD5-BEF818A9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7A5F4-2A36-460B-B020-A6612E8E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Объект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опубликован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14145-336F-4DAB-8194-DD4B58D5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E"/>
          </a:solidFill>
          <a:ln xmlns:a="http://schemas.openxmlformats.org/drawingml/2006/main" w="0">
            <a:solidFill>
              <a:srgbClr val="B9C4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1F120-4C63-4D45-B731-D81DD2A0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4C76B-3778-4E02-8031-8901535D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Риэлтор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делится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23D20-FE1F-4EEB-A791-94B4CE1A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3855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E"/>
          </a:solidFill>
          <a:ln xmlns:a="http://schemas.openxmlformats.org/drawingml/2006/main" w="0">
            <a:solidFill>
              <a:srgbClr val="B9C4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CE36F7-EB06-4CF3-9C98-270E1489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C8DA6-E7D1-4A3F-813D-8E8648BA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Покупатель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переходит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D5E821-47BE-4582-BDD7-3E2A60AE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3855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E"/>
          </a:solidFill>
          <a:ln xmlns:a="http://schemas.openxmlformats.org/drawingml/2006/main" w="0">
            <a:solidFill>
              <a:srgbClr val="B9C4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527D1-ACAC-433F-AC60-A1B326C4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818EA2-97CC-4200-9901-7EDEE2A2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Источник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сохранён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0E5D50-B5C4-4EE7-8144-7E228C0B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3855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E"/>
          </a:solidFill>
          <a:ln xmlns:a="http://schemas.openxmlformats.org/drawingml/2006/main" w="0">
            <a:solidFill>
              <a:srgbClr val="B9C4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4179A0-0047-4391-8806-86931A29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427636-4777-4177-AEBB-E4C72246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Сделка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оформляется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587F47-226B-4117-9C4B-FD669E25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23548"/>
                </a:solidFill>
              </a:defRPr>
            </a:pPr>
            <a:r>
              <a:rPr sz="2025" b="0">
                <a:solidFill>
                  <a:srgbClr val="223548"/>
                </a:solidFill>
              </a:rPr>
              <a:t>Ссылка или QR-код сохраняют источник рекомендации. Для сделки покупатель может выбрать другого представителя.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F18E6-D454-4EEB-AF0C-5B160111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76750"/>
            <a:ext cx="1885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2625" b="1">
                <a:solidFill>
                  <a:srgbClr val="C59B46"/>
                </a:solidFill>
              </a:defRPr>
            </a:pPr>
            <a:r>
              <a:rPr sz="2625" b="1">
                <a:solidFill>
                  <a:srgbClr val="C59B46"/>
                </a:solidFill>
              </a:rPr>
              <a:t>01 → 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4919C7-DB3E-4244-8B4C-E11B3B73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DCE813-3977-4722-AE5E-6D8DD64F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677797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A192C3-8381-4F6E-A8A2-03A48808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Одна сеть даёт каждой стороне свой результат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B6C2C-E3EB-4D6E-A794-2599B009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59B46"/>
                </a:solidFill>
              </a:defRPr>
            </a:pPr>
            <a:r>
              <a:rPr sz="1800" b="1">
                <a:solidFill>
                  <a:srgbClr val="C59B46"/>
                </a:solidFill>
              </a:rPr>
              <a:t>ПОКУПАТЕЛЬ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88E81-674A-4632-92A8-C918B6F9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Каталог объектов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Выбор риэлтора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Акции + сертификаты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910FA-F3E9-40D6-8675-92480D8E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8B567"/>
                </a:solidFill>
              </a:defRPr>
            </a:pPr>
            <a:r>
              <a:rPr sz="1275" b="1">
                <a:solidFill>
                  <a:srgbClr val="D8B567"/>
                </a:solidFill>
              </a:rPr>
              <a:t>Позже выставит свой объект — сеть поможет продать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9B3CC-A533-4282-BC33-8D4FEB06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16C"/>
          </a:solidFill>
          <a:ln xmlns:a="http://schemas.openxmlformats.org/drawingml/2006/main" w="0">
            <a:solidFill>
              <a:srgbClr val="33516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B6136-14B2-4C7D-B0F3-7020AFFC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59B46"/>
                </a:solidFill>
              </a:defRPr>
            </a:pPr>
            <a:r>
              <a:rPr sz="1800" b="1">
                <a:solidFill>
                  <a:srgbClr val="C59B46"/>
                </a:solidFill>
              </a:rPr>
              <a:t>РИЭЛТОР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D2401-0A7E-4F9D-A169-C575CA88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24150"/>
            <a:ext cx="333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Общий пул объектов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Персональные ссылки и QR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Источник рекомендации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64A1D-0E1A-4C8D-A2A0-1D82C829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4335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8B567"/>
                </a:solidFill>
              </a:defRPr>
            </a:pPr>
            <a:r>
              <a:rPr sz="1275" b="1">
                <a:solidFill>
                  <a:srgbClr val="D8B567"/>
                </a:solidFill>
              </a:rPr>
              <a:t>Работает самостоятельно или в команде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8FDDB-24CE-49DF-8F28-9AB9FEDD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16C"/>
          </a:solidFill>
          <a:ln xmlns:a="http://schemas.openxmlformats.org/drawingml/2006/main" w="0">
            <a:solidFill>
              <a:srgbClr val="33516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D1EC8-D132-430F-AB9A-31D5FBD1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59B46"/>
                </a:solidFill>
              </a:defRPr>
            </a:pPr>
            <a:r>
              <a:rPr sz="1800" b="1">
                <a:solidFill>
                  <a:srgbClr val="C59B46"/>
                </a:solidFill>
              </a:rPr>
              <a:t>КОМПАНИЯ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D7578-0198-4AAA-B71F-12CBF84E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2415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Свои и представляемые объекты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Команда и веб-CRM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Акции по объявлениям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0917AC-A404-4889-822F-0083F4F9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433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8B567"/>
                </a:solidFill>
              </a:defRPr>
            </a:pPr>
            <a:r>
              <a:rPr sz="1275" b="1">
                <a:solidFill>
                  <a:srgbClr val="D8B567"/>
                </a:solidFill>
              </a:rPr>
              <a:t>Промоплощадка и распределённая сеть продаж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28B696-ECC3-44C8-9595-222C2679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625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16C"/>
          </a:solidFill>
          <a:ln xmlns:a="http://schemas.openxmlformats.org/drawingml/2006/main" w="0">
            <a:solidFill>
              <a:srgbClr val="33516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96BA8-6166-4DDD-9D1E-3BFFD484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DCE4EA"/>
                </a:solidFill>
              </a:defRPr>
            </a:pPr>
            <a:r>
              <a:rPr sz="1800" b="1">
                <a:solidFill>
                  <a:srgbClr val="DCE4EA"/>
                </a:solidFill>
              </a:rPr>
              <a:t>Компания публикует собственные объекты и объекты застройщиков, которых представляет.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324EEF-1011-4FFF-84A9-451C8304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B8C4CF"/>
                </a:solidFill>
              </a:defRPr>
            </a:pPr>
            <a:r>
              <a:rPr sz="825" b="1">
                <a:solidFill>
                  <a:srgbClr val="B8C4CF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1D3344-0C60-428F-AC21-5E026BB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C4CF"/>
                </a:solidFill>
              </a:defRPr>
            </a:pPr>
            <a:r>
              <a:rPr sz="825" b="1">
                <a:solidFill>
                  <a:srgbClr val="B8C4C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207569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2A8B3-B210-49F7-AC69-05EBFB82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43E"/>
                </a:solidFill>
              </a:defRPr>
            </a:pPr>
            <a:r>
              <a:rPr sz="2850" b="1">
                <a:solidFill>
                  <a:srgbClr val="10243E"/>
                </a:solidFill>
              </a:rPr>
              <a:t>Одна платформа — два рабочих контура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d055a0c39d4ef5"/>
          <a:srcRect xmlns:a="http://schemas.openxmlformats.org/drawingml/2006/main" l="3704" t="0" r="37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24000"/>
            <a:ext cx="4762500" cy="34290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7883a9ce474972"/>
          <a:srcRect xmlns:a="http://schemas.openxmlformats.org/drawingml/2006/main" l="13676" t="0" r="136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43700" y="1524000"/>
            <a:ext cx="4762500" cy="34290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02B9E-D663-46E5-8FBB-9470C9C6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43E"/>
                </a:solidFill>
              </a:defRPr>
            </a:pPr>
            <a:r>
              <a:rPr sz="1875" b="1">
                <a:solidFill>
                  <a:srgbClr val="10243E"/>
                </a:solidFill>
              </a:rPr>
              <a:t>Мобильное приложение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1F907-FB3C-4F03-93BC-4C804DBB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98A"/>
                </a:solidFill>
              </a:defRPr>
            </a:pPr>
            <a:r>
              <a:rPr sz="1275" b="0">
                <a:solidFill>
                  <a:srgbClr val="66798A"/>
                </a:solidFill>
              </a:rPr>
              <a:t>Частные пользователи и риэлторы работают с объявлениями и сделкой с телефона.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93FB5-D30B-48C4-8171-75C1C034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81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43E"/>
                </a:solidFill>
              </a:defRPr>
            </a:pPr>
            <a:r>
              <a:rPr sz="1875" b="1">
                <a:solidFill>
                  <a:srgbClr val="10243E"/>
                </a:solidFill>
              </a:rPr>
              <a:t>Веб-CRM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BC52D-8673-4E7B-9672-8A3BB691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626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98A"/>
                </a:solidFill>
              </a:defRPr>
            </a:pPr>
            <a:r>
              <a:rPr sz="1275" b="0">
                <a:solidFill>
                  <a:srgbClr val="66798A"/>
                </a:solidFill>
              </a:rPr>
              <a:t>Компании ведут каталог, команду, обращения и сделки.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28C15-AA6D-4D0A-B076-E2B75B66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3747E7-47B9-48FA-84F8-B248C73A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517447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186791-EACC-473D-A951-289A0D93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43E"/>
                </a:solidFill>
              </a:defRPr>
            </a:pPr>
            <a:r>
              <a:rPr sz="2850" b="1">
                <a:solidFill>
                  <a:srgbClr val="10243E"/>
                </a:solidFill>
              </a:rPr>
              <a:t>Что уже работает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1FA43E-4C68-4350-9B8A-AF53B9AA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Приложение опубликовано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в App Store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8D7C9-67CA-4DEA-831B-59EDDD51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B46"/>
          </a:solidFill>
          <a:ln xmlns:a="http://schemas.openxmlformats.org/drawingml/2006/main" w="0">
            <a:solidFill>
              <a:srgbClr val="C59B4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0DA04-A419-4C25-82AB-A8A76A09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Приложение опубликовано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в Google Play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2EBBA-5D83-401F-8EB3-82631933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6225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B46"/>
          </a:solidFill>
          <a:ln xmlns:a="http://schemas.openxmlformats.org/drawingml/2006/main" w="0">
            <a:solidFill>
              <a:srgbClr val="C59B4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CE843-A464-4862-9C9A-08EA4A7C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Персональные ссылки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и QR-коды работают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C53A4-A205-4C84-8D71-BA34F1ED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B46"/>
          </a:solidFill>
          <a:ln xmlns:a="http://schemas.openxmlformats.org/drawingml/2006/main" w="0">
            <a:solidFill>
              <a:srgbClr val="C59B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6CA78-37E1-435D-889B-1D48DC02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Веб-CRM доступна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профессиональным участникам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3394BD-9A38-4C2B-92DC-4A30423E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14875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B46"/>
          </a:solidFill>
          <a:ln xmlns:a="http://schemas.openxmlformats.org/drawingml/2006/main" w="0">
            <a:solidFill>
              <a:srgbClr val="C59B4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706BD-9A52-4F0F-8D92-E36064C1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98A"/>
                </a:solidFill>
              </a:defRPr>
            </a:pPr>
            <a:r>
              <a:rPr sz="1350" b="0">
                <a:solidFill>
                  <a:srgbClr val="66798A"/>
                </a:solidFill>
              </a:rPr>
              <a:t>Объекты — в Удмуртии. Объявления выходят без проверки; модерация и базовая юридическая проверка — в плане.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98776-6BD4-41E7-85BC-89A621BC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E4929D-9959-48F3-BA8A-97DE77A9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976273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5EDD1-16BA-445F-95A8-D2B931EF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43E"/>
                </a:solidFill>
              </a:defRPr>
            </a:pPr>
            <a:r>
              <a:rPr sz="2850" b="1">
                <a:solidFill>
                  <a:srgbClr val="10243E"/>
                </a:solidFill>
              </a:rPr>
              <a:t>Инвестор получает долю в работающем продуктовом контуре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DE7B5-90B5-4E60-89AB-5F6EE837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59B46"/>
                </a:solidFill>
              </a:defRPr>
            </a:pPr>
            <a:r>
              <a:rPr sz="1650" b="1">
                <a:solidFill>
                  <a:srgbClr val="C59B46"/>
                </a:solidFill>
              </a:rPr>
              <a:t>ПРОДУКТ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CD3BF-7B60-4864-8125-45DCDD03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Приложения в магазинах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Веб-CRM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Общая модель данных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2D457-FB02-4D15-8C46-0A183781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59B46"/>
                </a:solidFill>
              </a:defRPr>
            </a:pPr>
            <a:r>
              <a:rPr sz="1650" b="1">
                <a:solidFill>
                  <a:srgbClr val="C59B46"/>
                </a:solidFill>
              </a:rPr>
              <a:t>СЕТЬ ПРОДАЖ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29BAD-DDF6-4697-A80C-CFB3067C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336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Общий пул объектов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Ролевые сценарии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Фиксация источника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F5A6E-3DBD-45F7-8AD0-08CAD9A0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59B46"/>
                </a:solidFill>
              </a:defRPr>
            </a:pPr>
            <a:r>
              <a:rPr sz="1650" b="1">
                <a:solidFill>
                  <a:srgbClr val="C59B46"/>
                </a:solidFill>
              </a:rPr>
              <a:t>МАСШТАБИРОВАНИЕ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8F2D0-8E7D-4EA0-9E1F-3895B316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336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Новые регионы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Партнёры и команды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Монетизация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29C04-4982-4C15-B054-CD075FF2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09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23548"/>
                </a:solidFill>
              </a:defRPr>
            </a:pPr>
            <a:r>
              <a:rPr sz="1800" b="0">
                <a:solidFill>
                  <a:srgbClr val="223548"/>
                </a:solidFill>
              </a:rPr>
              <a:t>Платформа может развиваться самостоятельно или войти в экосистему девелопера, агентской сети, классифайда или банка.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9A529-DBD1-47BF-845C-A76CBD37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76B4EB-34DD-48BE-9CCE-1FA6A2F8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215872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5EDD1-16BA-445F-95A8-D2B931EF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43E"/>
                </a:solidFill>
              </a:defRPr>
            </a:pPr>
            <a:r>
              <a:rPr sz="2850" b="1">
                <a:solidFill>
                  <a:srgbClr val="10243E"/>
                </a:solidFill>
              </a:rPr>
              <a:t>Пять каналов монетизации вокруг сети и сделок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DE7B5-90B5-4E60-89AB-5F6EE837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59B46"/>
                </a:solidFill>
              </a:defRPr>
            </a:pPr>
            <a:r>
              <a:rPr sz="1650" b="1">
                <a:solidFill>
                  <a:srgbClr val="C59B46"/>
                </a:solidFill>
              </a:rPr>
              <a:t>ПОДПИСКА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CD3BF-7B60-4864-8125-45DCDD03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Профессиональные функции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Веб-CRM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Управление командой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2D457-FB02-4D15-8C46-0A183781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59B46"/>
                </a:solidFill>
              </a:defRPr>
            </a:pPr>
            <a:r>
              <a:rPr sz="1650" b="1">
                <a:solidFill>
                  <a:srgbClr val="C59B46"/>
                </a:solidFill>
              </a:rPr>
              <a:t>ТРАНЗАКЦИИ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29BAD-DDF6-4697-A80C-CFB3067C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336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Комиссия со сделок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Продвижение объектов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Дополнительные сервисы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F5A6E-3DBD-45F7-8AD0-08CAD9A0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59B46"/>
                </a:solidFill>
              </a:defRPr>
            </a:pPr>
            <a:r>
              <a:rPr sz="1650" b="1">
                <a:solidFill>
                  <a:srgbClr val="C59B46"/>
                </a:solidFill>
              </a:rPr>
              <a:t>ПАРТНЁРСТВА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8F2D0-8E7D-4EA0-9E1F-3895B316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336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Сертификаты партнёров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Реклама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Совместные программы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29C04-4982-4C15-B054-CD075FF2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09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23548"/>
                </a:solidFill>
              </a:defRPr>
            </a:pPr>
            <a:r>
              <a:rPr sz="1800" b="0">
                <a:solidFill>
                  <a:srgbClr val="223548"/>
                </a:solidFill>
              </a:rPr>
              <a:t>Модель монетизации и экономика работы с риэлторами требуют проверки вместе с инвестором.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9A529-DBD1-47BF-845C-A76CBD37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76B4EB-34DD-48BE-9CCE-1FA6A2F8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215872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EF2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09A7A9-0796-4494-9FC1-B05F1269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43E"/>
                </a:solidFill>
              </a:defRPr>
            </a:pPr>
            <a:r>
              <a:rPr sz="2850" b="1">
                <a:solidFill>
                  <a:srgbClr val="10243E"/>
                </a:solidFill>
              </a:rPr>
              <a:t>Пять направлений роста после сделки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FC75A-AEEE-40F9-8AD5-BEF818A9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7A5F4-2A36-460B-B020-A6612E8E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Расширить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географию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14145-336F-4DAB-8194-DD4B58D5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E"/>
          </a:solidFill>
          <a:ln xmlns:a="http://schemas.openxmlformats.org/drawingml/2006/main" w="0">
            <a:solidFill>
              <a:srgbClr val="B9C4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1F120-4C63-4D45-B731-D81DD2A0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4C76B-3778-4E02-8031-8901535D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Подключить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партнёров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23D20-FE1F-4EEB-A791-94B4CE1A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3855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E"/>
          </a:solidFill>
          <a:ln xmlns:a="http://schemas.openxmlformats.org/drawingml/2006/main" w="0">
            <a:solidFill>
              <a:srgbClr val="B9C4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CE36F7-EB06-4CF3-9C98-270E1489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C8DA6-E7D1-4A3F-813D-8E8648BA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Запустить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модерацию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D5E821-47BE-4582-BDD7-3E2A60AE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3855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E"/>
          </a:solidFill>
          <a:ln xmlns:a="http://schemas.openxmlformats.org/drawingml/2006/main" w="0">
            <a:solidFill>
              <a:srgbClr val="B9C4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527D1-ACAC-433F-AC60-A1B326C4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818EA2-97CC-4200-9901-7EDEE2A2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Проверить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монетизацию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0E5D50-B5C4-4EE7-8144-7E228C0B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3855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E"/>
          </a:solidFill>
          <a:ln xmlns:a="http://schemas.openxmlformats.org/drawingml/2006/main" w="0">
            <a:solidFill>
              <a:srgbClr val="B9C4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4179A0-0047-4391-8806-86931A29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427636-4777-4177-AEBB-E4C72246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Развить CRM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и аналитику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587F47-226B-4117-9C4B-FD669E25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23548"/>
                </a:solidFill>
              </a:defRPr>
            </a:pPr>
            <a:r>
              <a:rPr sz="2025" b="0">
                <a:solidFill>
                  <a:srgbClr val="223548"/>
                </a:solidFill>
              </a:rPr>
              <a:t>Порядок работ определим вместе с инвестором. Отдельный приоритет — модель вознаграждения участников сделки.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F18E6-D454-4EEB-AF0C-5B160111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76750"/>
            <a:ext cx="1885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2625" b="1">
                <a:solidFill>
                  <a:srgbClr val="C59B46"/>
                </a:solidFill>
              </a:defRPr>
            </a:pPr>
            <a:r>
              <a:rPr sz="2625" b="1">
                <a:solidFill>
                  <a:srgbClr val="C59B46"/>
                </a:solidFill>
              </a:rPr>
              <a:t>01 → 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4919C7-DB3E-4244-8B4C-E11B3B73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DCE813-3977-4722-AE5E-6D8DD64F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677797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A192C3-8381-4F6E-A8A2-03A48808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Приоритет — продажа доли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B6C2C-E3EB-4D6E-A794-2599B009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59B46"/>
                </a:solidFill>
              </a:defRPr>
            </a:pPr>
            <a:r>
              <a:rPr sz="1800" b="1">
                <a:solidFill>
                  <a:srgbClr val="C59B46"/>
                </a:solidFill>
              </a:rPr>
              <a:t>ДОЛЯ У СОБСТВЕННИКА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88E81-674A-4632-92A8-C918B6F9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Инвестор приобретает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согласованную долю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910FA-F3E9-40D6-8675-92480D8E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8B567"/>
                </a:solidFill>
              </a:defRPr>
            </a:pPr>
            <a:r>
              <a:rPr sz="1275" b="1">
                <a:solidFill>
                  <a:srgbClr val="D8B567"/>
                </a:solidFill>
              </a:rPr>
              <a:t>Проект продолжает развиваться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9B3CC-A533-4282-BC33-8D4FEB06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16C"/>
          </a:solidFill>
          <a:ln xmlns:a="http://schemas.openxmlformats.org/drawingml/2006/main" w="0">
            <a:solidFill>
              <a:srgbClr val="33516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B6136-14B2-4C7D-B0F3-7020AFFC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59B46"/>
                </a:solidFill>
              </a:defRPr>
            </a:pPr>
            <a:r>
              <a:rPr sz="1800" b="1">
                <a:solidFill>
                  <a:srgbClr val="C59B46"/>
                </a:solidFill>
              </a:rPr>
              <a:t>КОМБИНИРОВАННЫЙ ВАРИАНТ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D2401-0A7E-4F9D-A169-C575CA88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24150"/>
            <a:ext cx="333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Часть средств собственнику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Часть — в компанию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64A1D-0E1A-4C8D-A2A0-1D82C829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4335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8B567"/>
                </a:solidFill>
              </a:defRPr>
            </a:pPr>
            <a:r>
              <a:rPr sz="1275" b="1">
                <a:solidFill>
                  <a:srgbClr val="D8B567"/>
                </a:solidFill>
              </a:rPr>
              <a:t>Баланс сделки и роста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8FDDB-24CE-49DF-8F28-9AB9FEDD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16C"/>
          </a:solidFill>
          <a:ln xmlns:a="http://schemas.openxmlformats.org/drawingml/2006/main" w="0">
            <a:solidFill>
              <a:srgbClr val="33516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D1EC8-D132-430F-AB9A-31D5FBD1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59B46"/>
                </a:solidFill>
              </a:defRPr>
            </a:pPr>
            <a:r>
              <a:rPr sz="1800" b="1">
                <a:solidFill>
                  <a:srgbClr val="C59B46"/>
                </a:solidFill>
              </a:rPr>
              <a:t>ПОЛНЫЙ ВЫКУП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D7578-0198-4AAA-B71F-12CBF84E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2415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Отдельная договорённость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сторон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0917AC-A404-4889-822F-0083F4F9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433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8B567"/>
                </a:solidFill>
              </a:defRPr>
            </a:pPr>
            <a:r>
              <a:rPr sz="1275" b="1">
                <a:solidFill>
                  <a:srgbClr val="D8B567"/>
                </a:solidFill>
              </a:rPr>
              <a:t>Не основной сценарий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28B696-ECC3-44C8-9595-222C2679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625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16C"/>
          </a:solidFill>
          <a:ln xmlns:a="http://schemas.openxmlformats.org/drawingml/2006/main" w="0">
            <a:solidFill>
              <a:srgbClr val="33516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96BA8-6166-4DDD-9D1E-3BFFD484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DCE4EA"/>
                </a:solidFill>
              </a:defRPr>
            </a:pPr>
            <a:r>
              <a:rPr sz="1800" b="1">
                <a:solidFill>
                  <a:srgbClr val="DCE4EA"/>
                </a:solidFill>
              </a:rPr>
              <a:t>Размер доли, оценку и права инвестора согласуем после демонстрации и NDA.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324EEF-1011-4FFF-84A9-451C8304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B8C4CF"/>
                </a:solidFill>
              </a:defRPr>
            </a:pPr>
            <a:r>
              <a:rPr sz="825" b="1">
                <a:solidFill>
                  <a:srgbClr val="B8C4CF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1D3344-0C60-428F-AC21-5E026BB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C4CF"/>
                </a:solidFill>
              </a:defRPr>
            </a:pPr>
            <a:r>
              <a:rPr sz="825" b="1">
                <a:solidFill>
                  <a:srgbClr val="B8C4C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207569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86F33-5307-4C6E-9D15-6D8A7240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59B46"/>
                </a:solidFill>
              </a:defRPr>
            </a:pPr>
            <a:r>
              <a:rPr sz="1275" b="1">
                <a:solidFill>
                  <a:srgbClr val="C59B46"/>
                </a:solidFill>
              </a:rPr>
              <a:t>СЛЕДУЮЩИЙ ШАГ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42236-A0B1-4DE7-A3B0-13386F59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953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Демонстрация продукта и обсуждение структуры участия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E1340-5473-42DA-8536-CBB2179F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CE4EA"/>
                </a:solidFill>
              </a:defRPr>
            </a:pPr>
            <a:r>
              <a:rPr sz="1800" b="0">
                <a:solidFill>
                  <a:srgbClr val="DCE4EA"/>
                </a:solidFill>
              </a:rPr>
              <a:t>1. Демонстрация  •  2. NDA и data room  •  3. Условия участия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30ADB-7909-4D78-B266-BFDFE8E7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B46"/>
          </a:solidFill>
          <a:ln xmlns:a="http://schemas.openxmlformats.org/drawingml/2006/main" w="0">
            <a:solidFill>
              <a:srgbClr val="C59B4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3F732-EDD3-415C-9C02-6F38B312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Контакты и доступ к демонстрации — по запросу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41464-2CCB-4AF0-88B7-9D35C08A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8C4CF"/>
                </a:solidFill>
              </a:defRPr>
            </a:pPr>
            <a:r>
              <a:rPr sz="1350" b="0">
                <a:solidFill>
                  <a:srgbClr val="B8C4CF"/>
                </a:solidFill>
              </a:rPr>
              <a:t>Доля и оценка — после первичной встречи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7FA47-7EC6-42AD-8105-752C4327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B8C4CF"/>
                </a:solidFill>
              </a:defRPr>
            </a:pPr>
            <a:r>
              <a:rPr sz="825" b="1">
                <a:solidFill>
                  <a:srgbClr val="B8C4CF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56A9D-5D41-4BE6-9593-ABE4B93E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C4CF"/>
                </a:solidFill>
              </a:defRPr>
            </a:pPr>
            <a:r>
              <a:rPr sz="825" b="1">
                <a:solidFill>
                  <a:srgbClr val="B8C4CF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82553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2026-08-02T21:53:26.1680000Z</dcterms:created>
  <dcterms:modified xsi:type="dcterms:W3CDTF">2026-08-02T21:53:26.1680000Z</dcterms:modified>
</coreProperties>
</file>