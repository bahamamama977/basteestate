
<file path=[Content_Types].xml><?xml version="1.0" encoding="utf-8"?>
<Types xmlns="http://schemas.openxmlformats.org/package/2006/content-types">
  <Default Extension="xml" ContentType="application/vnd.openxmlformats-package.core-properties+xml"/>
  <Default Extension="bin" ContentType="image/webp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9c9177a56684261" /><Relationship Type="http://schemas.openxmlformats.org/officeDocument/2006/relationships/extended-properties" Target="/docProps/app.xml" Id="Rd581fa92e0a14599" /><Relationship Type="http://schemas.openxmlformats.org/officeDocument/2006/relationships/officeDocument" Target="/ppt/presentation.xml" Id="R90e65b044ec144a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8eed50e06c24966"/>
  </p:sldMasterIdLst>
  <p:notesMasterIdLst>
    <p:notesMasterId xmlns:r="http://schemas.openxmlformats.org/officeDocument/2006/relationships" r:id="Rd326bdd67ffd4e4a"/>
  </p:notesMasterIdLst>
  <p:sldIdLst>
    <p:sldId xmlns:r="http://schemas.openxmlformats.org/officeDocument/2006/relationships" id="256" r:id="R812a255cd8a74db0"/>
    <p:sldId xmlns:r="http://schemas.openxmlformats.org/officeDocument/2006/relationships" id="257" r:id="Rd86f964a5ef54bfd"/>
    <p:sldId xmlns:r="http://schemas.openxmlformats.org/officeDocument/2006/relationships" id="258" r:id="Ra4b7bb41ac404fd3"/>
    <p:sldId xmlns:r="http://schemas.openxmlformats.org/officeDocument/2006/relationships" id="259" r:id="R7a1a1a0037744c55"/>
    <p:sldId xmlns:r="http://schemas.openxmlformats.org/officeDocument/2006/relationships" id="260" r:id="R8cc5957a50804307"/>
    <p:sldId xmlns:r="http://schemas.openxmlformats.org/officeDocument/2006/relationships" id="261" r:id="R95f23682a23343d3"/>
    <p:sldId xmlns:r="http://schemas.openxmlformats.org/officeDocument/2006/relationships" id="262" r:id="Ra4ddbc17fc49443c"/>
    <p:sldId xmlns:r="http://schemas.openxmlformats.org/officeDocument/2006/relationships" id="263" r:id="R181e9809546040a2"/>
    <p:sldId xmlns:r="http://schemas.openxmlformats.org/officeDocument/2006/relationships" id="264" r:id="Raa6c1f4f443d4c56"/>
    <p:sldId xmlns:r="http://schemas.openxmlformats.org/officeDocument/2006/relationships" id="265" r:id="Rfad12ec334964959"/>
    <p:sldId xmlns:r="http://schemas.openxmlformats.org/officeDocument/2006/relationships" id="266" r:id="R95bd6a46a6f74a7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9a0582c3de04b30" /><Relationship Type="http://schemas.openxmlformats.org/officeDocument/2006/relationships/slideMaster" Target="/ppt/slideMasters/slideMaster1.xml" Id="R08eed50e06c24966" /><Relationship Type="http://schemas.openxmlformats.org/officeDocument/2006/relationships/notesMaster" Target="/ppt/notesMasters/notesMaster1.xml" Id="Rd326bdd67ffd4e4a" /><Relationship Type="http://schemas.openxmlformats.org/officeDocument/2006/relationships/presProps" Target="/ppt/presProps.xml" Id="Rcc5f76d441314d1a" /><Relationship Type="http://schemas.openxmlformats.org/officeDocument/2006/relationships/tableStyles" Target="/ppt/tableStyles.xml" Id="Rc24463fe75104032" /><Relationship Type="http://schemas.openxmlformats.org/officeDocument/2006/relationships/slide" Target="/ppt/slides/slide1.xml" Id="R812a255cd8a74db0" /><Relationship Type="http://schemas.openxmlformats.org/officeDocument/2006/relationships/slide" Target="/ppt/slides/slide2.xml" Id="Rd86f964a5ef54bfd" /><Relationship Type="http://schemas.openxmlformats.org/officeDocument/2006/relationships/slide" Target="/ppt/slides/slide3.xml" Id="Ra4b7bb41ac404fd3" /><Relationship Type="http://schemas.openxmlformats.org/officeDocument/2006/relationships/slide" Target="/ppt/slides/slide4.xml" Id="R7a1a1a0037744c55" /><Relationship Type="http://schemas.openxmlformats.org/officeDocument/2006/relationships/slide" Target="/ppt/slides/slide5.xml" Id="R8cc5957a50804307" /><Relationship Type="http://schemas.openxmlformats.org/officeDocument/2006/relationships/slide" Target="/ppt/slides/slide6.xml" Id="R95f23682a23343d3" /><Relationship Type="http://schemas.openxmlformats.org/officeDocument/2006/relationships/slide" Target="/ppt/slides/slide7.xml" Id="Ra4ddbc17fc49443c" /><Relationship Type="http://schemas.openxmlformats.org/officeDocument/2006/relationships/slide" Target="/ppt/slides/slide8.xml" Id="R181e9809546040a2" /><Relationship Type="http://schemas.openxmlformats.org/officeDocument/2006/relationships/slide" Target="/ppt/slides/slide9.xml" Id="Raa6c1f4f443d4c56" /><Relationship Type="http://schemas.openxmlformats.org/officeDocument/2006/relationships/slide" Target="/ppt/slides/slide10.xml" Id="Rfad12ec334964959" /><Relationship Type="http://schemas.openxmlformats.org/officeDocument/2006/relationships/slide" Target="/ppt/slides/slide11.xml" Id="R95bd6a46a6f74a7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341cf077e3f4c9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49af91dbc8d4cad" /><Relationship Type="http://schemas.openxmlformats.org/officeDocument/2006/relationships/notesMaster" Target="/ppt/notesMasters/notesMaster1.xml" Id="R2adf8d24d4cd450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d5b4aa727c94851" /><Relationship Type="http://schemas.openxmlformats.org/officeDocument/2006/relationships/notesMaster" Target="/ppt/notesMasters/notesMaster1.xml" Id="Re022a22243334b7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d9fe4593a054418" /><Relationship Type="http://schemas.openxmlformats.org/officeDocument/2006/relationships/notesMaster" Target="/ppt/notesMasters/notesMaster1.xml" Id="R8f315c030e05409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f054041be444e09" /><Relationship Type="http://schemas.openxmlformats.org/officeDocument/2006/relationships/notesMaster" Target="/ppt/notesMasters/notesMaster1.xml" Id="R54e772a242f0442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56225d475d14962" /><Relationship Type="http://schemas.openxmlformats.org/officeDocument/2006/relationships/notesMaster" Target="/ppt/notesMasters/notesMaster1.xml" Id="Rc13adfbd8f93486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d319d2f25d74bc8" /><Relationship Type="http://schemas.openxmlformats.org/officeDocument/2006/relationships/notesMaster" Target="/ppt/notesMasters/notesMaster1.xml" Id="Re2fd27221b484fd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e5d6deb312d48d7" /><Relationship Type="http://schemas.openxmlformats.org/officeDocument/2006/relationships/notesMaster" Target="/ppt/notesMasters/notesMaster1.xml" Id="Ra2f68a9cf44e47a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c9627a4f45a477c" /><Relationship Type="http://schemas.openxmlformats.org/officeDocument/2006/relationships/notesMaster" Target="/ppt/notesMasters/notesMaster1.xml" Id="R9a44979c2c564d4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b37ca03dc814a70" /><Relationship Type="http://schemas.openxmlformats.org/officeDocument/2006/relationships/notesMaster" Target="/ppt/notesMasters/notesMaster1.xml" Id="R2d942a2c4fdf4a0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7e3fe8e528d42f3" /><Relationship Type="http://schemas.openxmlformats.org/officeDocument/2006/relationships/notesMaster" Target="/ppt/notesMasters/notesMaster1.xml" Id="Rbad67e9244034fb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a42b98974784f89" /><Relationship Type="http://schemas.openxmlformats.org/officeDocument/2006/relationships/notesMaster" Target="/ppt/notesMasters/notesMaster1.xml" Id="R8bad138fb37a48f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Внутренний источник: материалы проекта и сведения владельца продукта, 03.08.2026.</a:t>
            </a:r>
          </a:p>
          <a:p xmlns:a="http://schemas.openxmlformats.org/drawingml/2006/main">
            <a:r>
              <a:t>Изображение сохранено из исходной презентации проекта.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Внутренний источник: подтверждённая владельцем продукта механика публикации, рекомендаций и выбора представителя, 03.08.2026.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Внутренний источник: работающие персональные ссылки и QR-коды; правило фиксации источника рекомендации, 03.08.2026.</a:t>
            </a:r>
          </a:p>
          <a:p xmlns:a="http://schemas.openxmlformats.org/drawingml/2006/main">
            <a:r>
              <a:t>Модель вознаграждения участников сделки ещё не утверждена.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Внутренний источник: подтверждённые владельцем продукта сценарии покупателя, риэлтора, агентства и застройщика, 03.08.2026.</a:t>
            </a:r>
          </a:p>
          <a:p xmlns:a="http://schemas.openxmlformats.org/drawingml/2006/main">
            <a:r>
              <a:t>Сертификаты «БАСТ» фиксированы для всех сделок и суммируются с акциями застройщика.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Внутренний источник: приложения в App Store и Google Play; действующая веб-CRM для профессиональных участников, 03.08.2026.</a:t>
            </a:r>
          </a:p>
          <a:p xmlns:a="http://schemas.openxmlformats.org/drawingml/2006/main">
            <a:r>
              <a:t>Изображения сохранены из исходной презентации проекта.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Внутренний источник: подтверждённое текущее состояние продукта, 03.08.2026.</a:t>
            </a:r>
          </a:p>
          <a:p xmlns:a="http://schemas.openxmlformats.org/drawingml/2006/main">
            <a:r>
              <a:t>Ограничение: предварительная проверка объявлений пока не реализована.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Внутренний источник: состав действующего продукта и подтверждённая платформенная модель, 03.08.2026.</a:t>
            </a:r>
          </a:p>
          <a:p xmlns:a="http://schemas.openxmlformats.org/drawingml/2006/main">
            <a:r>
              <a:t>Юридический периметр доли и активов подтверждается в data room после NDA.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Внутренний источник: продуктовые гипотезы проекта, 03.08.2026.</a:t>
            </a:r>
          </a:p>
          <a:p xmlns:a="http://schemas.openxmlformats.org/drawingml/2006/main">
            <a:r>
              <a:t>Монетизация описана как план; текущая выручка и экономика каналов не заявляются.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Внутренний источник: план развития продукта и ограничения текущей версии, 03.08.2026.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Внутренний источник: согласованная владельцем позиция — приоритетна продажа доли; полный выкуп рассматривается отдельно, 03.08.2026.</a:t>
            </a:r>
          </a:p>
          <a:p xmlns:a="http://schemas.openxmlformats.org/drawingml/2006/main">
            <a:r>
              <a:t>Юридические и финансовые условия требуют отдельного согласования сторон.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Внутренний источник: согласованный процесс следующего шага, 03.08.2026.</a:t>
            </a:r>
          </a:p>
          <a:p xmlns:a="http://schemas.openxmlformats.org/drawingml/2006/main">
            <a:r>
              <a:t>Контактные данные владелец добавляет перед рассылкой.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ffdd48b8e9495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466f6fe8f554d48" /><Relationship Type="http://schemas.openxmlformats.org/officeDocument/2006/relationships/slideLayout" Target="/ppt/slideLayouts/slideLayout1.xml" Id="R7d82bf0ef822471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d82bf0ef822471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230a3d2a614b80" /><Relationship Type="http://schemas.openxmlformats.org/officeDocument/2006/relationships/image" Target="/ppt/media/image.bin" Id="R5800223dde334f7e" /><Relationship Type="http://schemas.openxmlformats.org/officeDocument/2006/relationships/notesSlide" Target="/ppt/notesSlides/notesSlide1.xml" Id="Rb5ab0564447a43f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63d73873ac42d5" /><Relationship Type="http://schemas.openxmlformats.org/officeDocument/2006/relationships/notesSlide" Target="/ppt/notesSlides/notesSlide2.xml" Id="R9a744fb2a012497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dd3a393e6746e5" /><Relationship Type="http://schemas.openxmlformats.org/officeDocument/2006/relationships/notesSlide" Target="/ppt/notesSlides/notesSlide3.xml" Id="R67ec08e83fb1461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fbe10196d54c86" /><Relationship Type="http://schemas.openxmlformats.org/officeDocument/2006/relationships/notesSlide" Target="/ppt/notesSlides/notesSlide4.xml" Id="R706f9f0bb35b4ee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668c63e91e4072" /><Relationship Type="http://schemas.openxmlformats.org/officeDocument/2006/relationships/image" Target="/ppt/media/image2.bin" Id="R7caf5a614d384dff" /><Relationship Type="http://schemas.openxmlformats.org/officeDocument/2006/relationships/image" Target="/ppt/media/image3.bin" Id="R4dd8621297fe41a2" /><Relationship Type="http://schemas.openxmlformats.org/officeDocument/2006/relationships/notesSlide" Target="/ppt/notesSlides/notesSlide5.xml" Id="Rba18e3bf540b486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4b935604c3420c" /><Relationship Type="http://schemas.openxmlformats.org/officeDocument/2006/relationships/notesSlide" Target="/ppt/notesSlides/notesSlide6.xml" Id="R89f9eb4edca8492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9ee6426a124d35" /><Relationship Type="http://schemas.openxmlformats.org/officeDocument/2006/relationships/notesSlide" Target="/ppt/notesSlides/notesSlide7.xml" Id="R6b83b3e92e8f440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b0bed185884d6c" /><Relationship Type="http://schemas.openxmlformats.org/officeDocument/2006/relationships/notesSlide" Target="/ppt/notesSlides/notesSlide8.xml" Id="R3eb65f677d024d6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0e2c3f7e7b48ac" /><Relationship Type="http://schemas.openxmlformats.org/officeDocument/2006/relationships/notesSlide" Target="/ppt/notesSlides/notesSlide9.xml" Id="Rf158788c419945f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a24bff19b84035" /><Relationship Type="http://schemas.openxmlformats.org/officeDocument/2006/relationships/notesSlide" Target="/ppt/notesSlides/notesSlide10.xml" Id="R830622a42cec4cc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61e7c2829741d2" /><Relationship Type="http://schemas.openxmlformats.org/officeDocument/2006/relationships/notesSlide" Target="/ppt/notesSlides/notesSlide11.xml" Id="R13f42cd3b81841f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4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00223dde334f7e"/>
          <a:srcRect xmlns:a="http://schemas.openxmlformats.org/drawingml/2006/main" l="25242" t="0" r="252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0"/>
            <a:ext cx="5429250" cy="6858000"/>
          </a:xfrm>
          <a:prstGeom xmlns:a="http://schemas.openxmlformats.org/drawingml/2006/main" prst="roundRect">
            <a:avLst>
              <a:gd name="adj" fmla="val 2807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ACEED7-8586-430A-9250-CF0F88C8B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0"/>
            <a:ext cx="28575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0243E"/>
              </a:gs>
              <a:gs pos="100000">
                <a:srgbClr val="10243E">
                  <a:alpha val="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37B3EF-E32F-4658-9A55-B2AEDC30F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C59B46"/>
                </a:solidFill>
              </a:defRPr>
            </a:pPr>
            <a:r>
              <a:rPr sz="1275" b="1">
                <a:solidFill>
                  <a:srgbClr val="C59B46"/>
                </a:solidFill>
              </a:rPr>
              <a:t>БАСТ НЕДВИЖИМОСТЬ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AEAE5A-39A7-4363-B7AE-A23A31BB8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5810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Инвестиционный тизер
PropTech-платформы
«БАСТ Недвижимость»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C5D647-5C30-4FCE-855F-09CE6C338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5381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DCE4EA"/>
                </a:solidFill>
              </a:defRPr>
            </a:pPr>
            <a:r>
              <a:rPr sz="1800" b="0">
                <a:solidFill>
                  <a:srgbClr val="DCE4EA"/>
                </a:solidFill>
              </a:rPr>
              <a:t>Приоритетный формат — приобретение доли
и стратегическое участие в развитии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355E17-2811-4772-A6A3-579947A9A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28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9B46"/>
          </a:solidFill>
          <a:ln xmlns:a="http://schemas.openxmlformats.org/drawingml/2006/main" w="0">
            <a:solidFill>
              <a:srgbClr val="C59B4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1B2D9D-4A81-4068-8FC4-4184ADFD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B8C4CF"/>
                </a:solidFill>
              </a:defRPr>
            </a:pPr>
            <a:r>
              <a:rPr sz="825" b="1">
                <a:solidFill>
                  <a:srgbClr val="B8C4CF"/>
                </a:solidFill>
              </a:rPr>
              <a:t>БАСТ НЕДВИЖИМОСТЬ   •   КОНФИДЕНЦИАЛЬНО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FA5128-6B3C-471D-A5C5-F1D11BAB5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B8C4CF"/>
                </a:solidFill>
              </a:defRPr>
            </a:pPr>
            <a:r>
              <a:rPr sz="825" b="1">
                <a:solidFill>
                  <a:srgbClr val="B8C4CF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672354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71A48B-A959-4A9F-B726-F7CAF78FA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43E"/>
                </a:solidFill>
              </a:defRPr>
            </a:pPr>
            <a:r>
              <a:rPr sz="2850" b="1">
                <a:solidFill>
                  <a:srgbClr val="10243E"/>
                </a:solidFill>
              </a:rPr>
              <a:t>Главное отличие — открытая сеть совместных продаж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470A7C-B110-4F1F-9ABA-986E47F00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6690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43E"/>
                </a:solidFill>
              </a:defRPr>
            </a:pPr>
            <a:r>
              <a:rPr sz="1875" b="1">
                <a:solidFill>
                  <a:srgbClr val="10243E"/>
                </a:solidFill>
              </a:rPr>
              <a:t>ПУБЛИКАЦИЯ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3176EE-80FB-47DE-BE7D-34A485B79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86690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43E"/>
                </a:solidFill>
              </a:defRPr>
            </a:pPr>
            <a:r>
              <a:rPr sz="1875" b="1">
                <a:solidFill>
                  <a:srgbClr val="10243E"/>
                </a:solidFill>
              </a:rPr>
              <a:t>РАСПРОСТРАНЕНИЕ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12C212-8A6F-495F-B833-321573BD2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86690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43E"/>
                </a:solidFill>
              </a:defRPr>
            </a:pPr>
            <a:r>
              <a:rPr sz="1875" b="1">
                <a:solidFill>
                  <a:srgbClr val="10243E"/>
                </a:solidFill>
              </a:rPr>
              <a:t>АТРИБУЦИЯ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272F4E-DEAB-477E-9F84-629F53CFE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43E"/>
                </a:solidFill>
              </a:defRPr>
            </a:pPr>
            <a:r>
              <a:rPr sz="1875" b="1">
                <a:solidFill>
                  <a:srgbClr val="10243E"/>
                </a:solidFill>
              </a:rPr>
              <a:t>ОБЩИЙ ПУЛ ОБЪЕКТОВ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F8CE45-28C9-4D7E-A876-6FCAE2AE6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957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43E"/>
                </a:solidFill>
              </a:defRPr>
            </a:pPr>
            <a:r>
              <a:rPr sz="1875" b="1">
                <a:solidFill>
                  <a:srgbClr val="10243E"/>
                </a:solidFill>
              </a:rPr>
              <a:t>ВЫБОР ПРЕДСТАВИТЕЛЯ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B1758B-5599-4ED4-8D27-5056AE54F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90800"/>
            <a:ext cx="9620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223548"/>
                </a:solidFill>
              </a:defRPr>
            </a:pPr>
            <a:r>
              <a:rPr sz="2100" b="0">
                <a:solidFill>
                  <a:srgbClr val="223548"/>
                </a:solidFill>
              </a:rPr>
              <a:t>Объект, опубликованный частным продавцом, риэлтором, агентством или застройщиком, становится доступен всей сети одобренных риэлторов.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EEE711-CD30-49C6-BB5D-51054820B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95850"/>
            <a:ext cx="495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9B46"/>
          </a:solidFill>
          <a:ln xmlns:a="http://schemas.openxmlformats.org/drawingml/2006/main" w="0">
            <a:solidFill>
              <a:srgbClr val="C59B4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19F4EA-05C9-4D96-9445-BDE8E63B5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243E"/>
                </a:solidFill>
              </a:defRPr>
            </a:pPr>
            <a:r>
              <a:rPr sz="1950" b="1">
                <a:solidFill>
                  <a:srgbClr val="10243E"/>
                </a:solidFill>
              </a:rPr>
              <a:t>Платформа фиксирует источник рекомендации, а покупатель сам выбирает специалиста для сделки.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F7E945-7C08-47AF-81DC-CDEDE247C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6798A"/>
                </a:solidFill>
              </a:defRPr>
            </a:pPr>
            <a:r>
              <a:rPr sz="825" b="1">
                <a:solidFill>
                  <a:srgbClr val="66798A"/>
                </a:solidFill>
              </a:rPr>
              <a:t>БАСТ НЕДВИЖИМОСТЬ   •   КОНФИДЕНЦИАЛЬНО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55977F-8C13-4E2A-A461-A710B4D43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6798A"/>
                </a:solidFill>
              </a:defRPr>
            </a:pPr>
            <a:r>
              <a:rPr sz="825" b="1">
                <a:solidFill>
                  <a:srgbClr val="66798A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143084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EF2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09A7A9-0796-4494-9FC1-B05F12699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43E"/>
                </a:solidFill>
              </a:defRPr>
            </a:pPr>
            <a:r>
              <a:rPr sz="2850" b="1">
                <a:solidFill>
                  <a:srgbClr val="10243E"/>
                </a:solidFill>
              </a:rPr>
              <a:t>Один объект подключает всю сеть продаж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8FC75A-AEEE-40F9-8AD5-BEF818A91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C59B46"/>
                </a:solidFill>
              </a:defRPr>
            </a:pPr>
            <a:r>
              <a:rPr sz="1350" b="1">
                <a:solidFill>
                  <a:srgbClr val="C59B46"/>
                </a:solidFill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D7A5F4-2A36-460B-B020-A6612E8E2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762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243E"/>
                </a:solidFill>
              </a:defRPr>
            </a:pPr>
            <a:r>
              <a:rPr sz="2025" b="1">
                <a:solidFill>
                  <a:srgbClr val="10243E"/>
                </a:solidFill>
              </a:rPr>
              <a:t>Объект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10243E"/>
                </a:solidFill>
              </a:defRPr>
            </a:pPr>
            <a:r>
              <a:rPr sz="2025" b="1">
                <a:solidFill>
                  <a:srgbClr val="10243E"/>
                </a:solidFill>
              </a:rPr>
              <a:t>опубликован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B14145-336F-4DAB-8194-DD4B58D57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38550"/>
            <a:ext cx="1762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4CE"/>
          </a:solidFill>
          <a:ln xmlns:a="http://schemas.openxmlformats.org/drawingml/2006/main" w="0">
            <a:solidFill>
              <a:srgbClr val="B9C4C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51F120-4C63-4D45-B731-D81DD2A03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180975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C59B46"/>
                </a:solidFill>
              </a:defRPr>
            </a:pPr>
            <a:r>
              <a:rPr sz="1350" b="1">
                <a:solidFill>
                  <a:srgbClr val="C59B46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C4C76B-3778-4E02-8031-8901535DC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324100"/>
            <a:ext cx="1762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243E"/>
                </a:solidFill>
              </a:defRPr>
            </a:pPr>
            <a:r>
              <a:rPr sz="2025" b="1">
                <a:solidFill>
                  <a:srgbClr val="10243E"/>
                </a:solidFill>
              </a:rPr>
              <a:t>Риэлтор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10243E"/>
                </a:solidFill>
              </a:defRPr>
            </a:pPr>
            <a:r>
              <a:rPr sz="2025" b="1">
                <a:solidFill>
                  <a:srgbClr val="10243E"/>
                </a:solidFill>
              </a:rPr>
              <a:t>делится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623D20-FE1F-4EEB-A791-94B4CE1A9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638550"/>
            <a:ext cx="1762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4CE"/>
          </a:solidFill>
          <a:ln xmlns:a="http://schemas.openxmlformats.org/drawingml/2006/main" w="0">
            <a:solidFill>
              <a:srgbClr val="B9C4C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CE36F7-EB06-4CF3-9C98-270E14890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80975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C59B46"/>
                </a:solidFill>
              </a:defRPr>
            </a:pPr>
            <a:r>
              <a:rPr sz="1350" b="1">
                <a:solidFill>
                  <a:srgbClr val="C59B46"/>
                </a:solidFill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DC8DA6-E7D1-4A3F-813D-8E8648BA1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324100"/>
            <a:ext cx="1762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243E"/>
                </a:solidFill>
              </a:defRPr>
            </a:pPr>
            <a:r>
              <a:rPr sz="2025" b="1">
                <a:solidFill>
                  <a:srgbClr val="10243E"/>
                </a:solidFill>
              </a:rPr>
              <a:t>Покупатель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10243E"/>
                </a:solidFill>
              </a:defRPr>
            </a:pPr>
            <a:r>
              <a:rPr sz="2025" b="1">
                <a:solidFill>
                  <a:srgbClr val="10243E"/>
                </a:solidFill>
              </a:rPr>
              <a:t>переходит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D5E821-47BE-4582-BDD7-3E2A60AEF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638550"/>
            <a:ext cx="1762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4CE"/>
          </a:solidFill>
          <a:ln xmlns:a="http://schemas.openxmlformats.org/drawingml/2006/main" w="0">
            <a:solidFill>
              <a:srgbClr val="B9C4C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C527D1-ACAC-433F-AC60-A1B326C43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180975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C59B46"/>
                </a:solidFill>
              </a:defRPr>
            </a:pPr>
            <a:r>
              <a:rPr sz="1350" b="1">
                <a:solidFill>
                  <a:srgbClr val="C59B46"/>
                </a:solidFill>
              </a:rPr>
              <a:t>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818EA2-97CC-4200-9901-7EDEE2A29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324100"/>
            <a:ext cx="1762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243E"/>
                </a:solidFill>
              </a:defRPr>
            </a:pPr>
            <a:r>
              <a:rPr sz="2025" b="1">
                <a:solidFill>
                  <a:srgbClr val="10243E"/>
                </a:solidFill>
              </a:rPr>
              <a:t>Источник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10243E"/>
                </a:solidFill>
              </a:defRPr>
            </a:pPr>
            <a:r>
              <a:rPr sz="2025" b="1">
                <a:solidFill>
                  <a:srgbClr val="10243E"/>
                </a:solidFill>
              </a:rPr>
              <a:t>сохранён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0E5D50-B5C4-4EE7-8144-7E228C0B7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638550"/>
            <a:ext cx="1762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4CE"/>
          </a:solidFill>
          <a:ln xmlns:a="http://schemas.openxmlformats.org/drawingml/2006/main" w="0">
            <a:solidFill>
              <a:srgbClr val="B9C4C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4179A0-0047-4391-8806-86931A291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80975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C59B46"/>
                </a:solidFill>
              </a:defRPr>
            </a:pPr>
            <a:r>
              <a:rPr sz="1350" b="1">
                <a:solidFill>
                  <a:srgbClr val="C59B46"/>
                </a:solidFill>
              </a:rPr>
              <a:t>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427636-4777-4177-AEBB-E4C72246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324100"/>
            <a:ext cx="1762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243E"/>
                </a:solidFill>
              </a:defRPr>
            </a:pPr>
            <a:r>
              <a:rPr sz="2025" b="1">
                <a:solidFill>
                  <a:srgbClr val="10243E"/>
                </a:solidFill>
              </a:rPr>
              <a:t>Сделка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10243E"/>
                </a:solidFill>
              </a:defRPr>
            </a:pPr>
            <a:r>
              <a:rPr sz="2025" b="1">
                <a:solidFill>
                  <a:srgbClr val="10243E"/>
                </a:solidFill>
              </a:rPr>
              <a:t>оформляется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587F47-226B-4117-9C4B-FD669E256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857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223548"/>
                </a:solidFill>
              </a:defRPr>
            </a:pPr>
            <a:r>
              <a:rPr sz="2025" b="0">
                <a:solidFill>
                  <a:srgbClr val="223548"/>
                </a:solidFill>
              </a:rPr>
              <a:t>Ссылка или QR-код сохраняют источник рекомендации. Для сделки покупатель может выбрать другого представителя.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2F18E6-D454-4EEB-AF0C-5B1601111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76750"/>
            <a:ext cx="18859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2625" b="1">
                <a:solidFill>
                  <a:srgbClr val="C59B46"/>
                </a:solidFill>
              </a:defRPr>
            </a:pPr>
            <a:r>
              <a:rPr sz="2625" b="1">
                <a:solidFill>
                  <a:srgbClr val="C59B46"/>
                </a:solidFill>
              </a:rPr>
              <a:t>01 → 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4919C7-DB3E-4244-8B4C-E11B3B730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6798A"/>
                </a:solidFill>
              </a:defRPr>
            </a:pPr>
            <a:r>
              <a:rPr sz="825" b="1">
                <a:solidFill>
                  <a:srgbClr val="66798A"/>
                </a:solidFill>
              </a:rPr>
              <a:t>БАСТ НЕДВИЖИМОСТЬ   •   КОНФИДЕНЦИАЛЬНО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DCE813-3977-4722-AE5E-6D8DD64FE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6798A"/>
                </a:solidFill>
              </a:defRPr>
            </a:pPr>
            <a:r>
              <a:rPr sz="825" b="1">
                <a:solidFill>
                  <a:srgbClr val="66798A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677797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24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A192C3-8381-4F6E-A8A2-03A488086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Одна сеть даёт каждой стороне свой результат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0B6C2C-E3EB-4D6E-A794-2599B0098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C59B46"/>
                </a:solidFill>
              </a:defRPr>
            </a:pPr>
            <a:r>
              <a:rPr sz="1800" b="1">
                <a:solidFill>
                  <a:srgbClr val="C59B46"/>
                </a:solidFill>
              </a:rPr>
              <a:t>ПОКУПАТЕЛЬ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888E81-674A-4632-92A8-C918B6F9D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2857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Каталог объектов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Выбор риэлтора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Акции + сертификаты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A910FA-F3E9-40D6-8675-92480D8EF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D8B567"/>
                </a:solidFill>
              </a:defRPr>
            </a:pPr>
            <a:r>
              <a:rPr sz="1275" b="1">
                <a:solidFill>
                  <a:srgbClr val="D8B567"/>
                </a:solidFill>
              </a:rPr>
              <a:t>Позже выставит свой объект — сеть поможет продать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69B3CC-A533-4282-BC33-8D4FEB061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516C"/>
          </a:solidFill>
          <a:ln xmlns:a="http://schemas.openxmlformats.org/drawingml/2006/main" w="0">
            <a:solidFill>
              <a:srgbClr val="33516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6B6136-14B2-4C7D-B0F3-7020AFFC5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952625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C59B46"/>
                </a:solidFill>
              </a:defRPr>
            </a:pPr>
            <a:r>
              <a:rPr sz="1800" b="1">
                <a:solidFill>
                  <a:srgbClr val="C59B46"/>
                </a:solidFill>
              </a:rPr>
              <a:t>РИЭЛТОР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7D2401-0A7E-4F9D-A169-C575CA881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24150"/>
            <a:ext cx="333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Общий пул объектов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Персональные ссылки и QR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Источник рекомендации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464A1D-0E1A-4C8D-A2A0-1D82C8291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943350"/>
            <a:ext cx="333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D8B567"/>
                </a:solidFill>
              </a:defRPr>
            </a:pPr>
            <a:r>
              <a:rPr sz="1275" b="1">
                <a:solidFill>
                  <a:srgbClr val="D8B567"/>
                </a:solidFill>
              </a:rPr>
              <a:t>Работает самостоятельно или в команде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58FDDB-24CE-49DF-8F28-9AB9FEDDC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762500"/>
            <a:ext cx="333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516C"/>
          </a:solidFill>
          <a:ln xmlns:a="http://schemas.openxmlformats.org/drawingml/2006/main" w="0">
            <a:solidFill>
              <a:srgbClr val="33516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7D1EC8-D132-430F-AB9A-31D5FBD19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952625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C59B46"/>
                </a:solidFill>
              </a:defRPr>
            </a:pPr>
            <a:r>
              <a:rPr sz="1800" b="1">
                <a:solidFill>
                  <a:srgbClr val="C59B46"/>
                </a:solidFill>
              </a:rPr>
              <a:t>КОМПАНИЯ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BD7578-0198-4AAA-B71F-12CBF84EF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724150"/>
            <a:ext cx="2857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Свои и представляемые объекты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Команда и веб-CRM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Акции по объявлениям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0917AC-A404-4889-822F-0083F4F90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943350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D8B567"/>
                </a:solidFill>
              </a:defRPr>
            </a:pPr>
            <a:r>
              <a:rPr sz="1275" b="1">
                <a:solidFill>
                  <a:srgbClr val="D8B567"/>
                </a:solidFill>
              </a:rPr>
              <a:t>Промоплощадка и распределённая сеть продаж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28B696-ECC3-44C8-9595-222C26795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76250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516C"/>
          </a:solidFill>
          <a:ln xmlns:a="http://schemas.openxmlformats.org/drawingml/2006/main" w="0">
            <a:solidFill>
              <a:srgbClr val="33516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596BA8-6166-4DDD-9D1E-3BFFD4846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DCE4EA"/>
                </a:solidFill>
              </a:defRPr>
            </a:pPr>
            <a:r>
              <a:rPr sz="1800" b="1">
                <a:solidFill>
                  <a:srgbClr val="DCE4EA"/>
                </a:solidFill>
              </a:rPr>
              <a:t>Компания публикует собственные объекты и объекты застройщиков, которых представляет.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324EEF-1011-4FFF-84A9-451C8304E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B8C4CF"/>
                </a:solidFill>
              </a:defRPr>
            </a:pPr>
            <a:r>
              <a:rPr sz="825" b="1">
                <a:solidFill>
                  <a:srgbClr val="B8C4CF"/>
                </a:solidFill>
              </a:rPr>
              <a:t>БАСТ НЕДВИЖИМОСТЬ   •   КОНФИДЕНЦИАЛЬНО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1D3344-0C60-428F-AC21-5E026BB3F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B8C4CF"/>
                </a:solidFill>
              </a:defRPr>
            </a:pPr>
            <a:r>
              <a:rPr sz="825" b="1">
                <a:solidFill>
                  <a:srgbClr val="B8C4CF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207569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22A8B3-B210-49F7-AC69-05EBFB820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43E"/>
                </a:solidFill>
              </a:defRPr>
            </a:pPr>
            <a:r>
              <a:rPr sz="2850" b="1">
                <a:solidFill>
                  <a:srgbClr val="10243E"/>
                </a:solidFill>
              </a:rPr>
              <a:t>Одна платформа — два рабочих контура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af5a614d384dff"/>
          <a:srcRect xmlns:a="http://schemas.openxmlformats.org/drawingml/2006/main" l="3704" t="0" r="37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524000"/>
            <a:ext cx="4762500" cy="3429000"/>
          </a:xfrm>
          <a:prstGeom xmlns:a="http://schemas.openxmlformats.org/drawingml/2006/main" prst="roundRect">
            <a:avLst>
              <a:gd name="adj" fmla="val 4444"/>
            </a:avLst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d8621297fe41a2"/>
          <a:srcRect xmlns:a="http://schemas.openxmlformats.org/drawingml/2006/main" l="13676" t="0" r="1367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43700" y="1524000"/>
            <a:ext cx="4762500" cy="3429000"/>
          </a:xfrm>
          <a:prstGeom xmlns:a="http://schemas.openxmlformats.org/drawingml/2006/main" prst="roundRect">
            <a:avLst>
              <a:gd name="adj" fmla="val 4444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002B9E-D663-46E5-8FBB-9470C9C65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43E"/>
                </a:solidFill>
              </a:defRPr>
            </a:pPr>
            <a:r>
              <a:rPr sz="1875" b="1">
                <a:solidFill>
                  <a:srgbClr val="10243E"/>
                </a:solidFill>
              </a:rPr>
              <a:t>Мобильное приложение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81F907-FB3C-4F03-93BC-4C804DBBB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98A"/>
                </a:solidFill>
              </a:defRPr>
            </a:pPr>
            <a:r>
              <a:rPr sz="1275" b="0">
                <a:solidFill>
                  <a:srgbClr val="66798A"/>
                </a:solidFill>
              </a:rPr>
              <a:t>Частные пользователи и риэлторы работают с объявлениями и сделкой с телефона.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E93FB5-D30B-48C4-8171-75C1C0346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1816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43E"/>
                </a:solidFill>
              </a:defRPr>
            </a:pPr>
            <a:r>
              <a:rPr sz="1875" b="1">
                <a:solidFill>
                  <a:srgbClr val="10243E"/>
                </a:solidFill>
              </a:rPr>
              <a:t>Веб-CRM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8BC52D-8673-4E7B-9672-8A3BB691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56260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98A"/>
                </a:solidFill>
              </a:defRPr>
            </a:pPr>
            <a:r>
              <a:rPr sz="1275" b="0">
                <a:solidFill>
                  <a:srgbClr val="66798A"/>
                </a:solidFill>
              </a:rPr>
              <a:t>Компании ведут каталог, команду, обращения и сделки.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A28C15-AA6D-4D0A-B076-E2B75B664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6798A"/>
                </a:solidFill>
              </a:defRPr>
            </a:pPr>
            <a:r>
              <a:rPr sz="825" b="1">
                <a:solidFill>
                  <a:srgbClr val="66798A"/>
                </a:solidFill>
              </a:rPr>
              <a:t>БАСТ НЕДВИЖИМОСТЬ   •   КОНФИДЕНЦИАЛЬНО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3747E7-47B9-48FA-84F8-B248C73A1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6798A"/>
                </a:solidFill>
              </a:defRPr>
            </a:pPr>
            <a:r>
              <a:rPr sz="825" b="1">
                <a:solidFill>
                  <a:srgbClr val="66798A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517447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186791-EACC-473D-A951-289A0D932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43E"/>
                </a:solidFill>
              </a:defRPr>
            </a:pPr>
            <a:r>
              <a:rPr sz="2850" b="1">
                <a:solidFill>
                  <a:srgbClr val="10243E"/>
                </a:solidFill>
              </a:rPr>
              <a:t>Что уже работает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1FA43E-4C68-4350-9B8A-AF53B9AA9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0243E"/>
                </a:solidFill>
              </a:defRPr>
            </a:pPr>
            <a:r>
              <a:rPr sz="2250" b="1">
                <a:solidFill>
                  <a:srgbClr val="10243E"/>
                </a:solidFill>
              </a:rPr>
              <a:t>Приложение опубликовано</a:t>
            </a:r>
          </a:p>
          <a:p xmlns:a="http://schemas.openxmlformats.org/drawingml/2006/main">
            <a:pPr algn="l">
              <a:buNone/>
              <a:defRPr sz="2250" b="1">
                <a:solidFill>
                  <a:srgbClr val="10243E"/>
                </a:solidFill>
              </a:defRPr>
            </a:pPr>
            <a:r>
              <a:rPr sz="2250" b="1">
                <a:solidFill>
                  <a:srgbClr val="10243E"/>
                </a:solidFill>
              </a:rPr>
              <a:t>в App Store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C8D7C9-67CA-4DEA-831B-59EDDD51F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4000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9B46"/>
          </a:solidFill>
          <a:ln xmlns:a="http://schemas.openxmlformats.org/drawingml/2006/main" w="0">
            <a:solidFill>
              <a:srgbClr val="C59B4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F0DA04-A419-4C25-82AB-A8A76A09F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19250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0243E"/>
                </a:solidFill>
              </a:defRPr>
            </a:pPr>
            <a:r>
              <a:rPr sz="2250" b="1">
                <a:solidFill>
                  <a:srgbClr val="10243E"/>
                </a:solidFill>
              </a:rPr>
              <a:t>Приложение опубликовано</a:t>
            </a:r>
          </a:p>
          <a:p xmlns:a="http://schemas.openxmlformats.org/drawingml/2006/main">
            <a:pPr algn="l">
              <a:buNone/>
              <a:defRPr sz="2250" b="1">
                <a:solidFill>
                  <a:srgbClr val="10243E"/>
                </a:solidFill>
              </a:defRPr>
            </a:pPr>
            <a:r>
              <a:rPr sz="2250" b="1">
                <a:solidFill>
                  <a:srgbClr val="10243E"/>
                </a:solidFill>
              </a:rPr>
              <a:t>в Google Play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42EBBA-5D83-401F-8EB3-826319333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62250"/>
            <a:ext cx="4000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9B46"/>
          </a:solidFill>
          <a:ln xmlns:a="http://schemas.openxmlformats.org/drawingml/2006/main" w="0">
            <a:solidFill>
              <a:srgbClr val="C59B4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1CE843-A464-4862-9C9A-08EA4A7C3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0243E"/>
                </a:solidFill>
              </a:defRPr>
            </a:pPr>
            <a:r>
              <a:rPr sz="2250" b="1">
                <a:solidFill>
                  <a:srgbClr val="10243E"/>
                </a:solidFill>
              </a:rPr>
              <a:t>Персональные ссылки</a:t>
            </a:r>
          </a:p>
          <a:p xmlns:a="http://schemas.openxmlformats.org/drawingml/2006/main">
            <a:pPr algn="l">
              <a:buNone/>
              <a:defRPr sz="2250" b="1">
                <a:solidFill>
                  <a:srgbClr val="10243E"/>
                </a:solidFill>
              </a:defRPr>
            </a:pPr>
            <a:r>
              <a:rPr sz="2250" b="1">
                <a:solidFill>
                  <a:srgbClr val="10243E"/>
                </a:solidFill>
              </a:rPr>
              <a:t>и QR-коды работают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FC53A4-A205-4C84-8D71-BA34F1EDF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75"/>
            <a:ext cx="4000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9B46"/>
          </a:solidFill>
          <a:ln xmlns:a="http://schemas.openxmlformats.org/drawingml/2006/main" w="0">
            <a:solidFill>
              <a:srgbClr val="C59B4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D6CA78-37E1-435D-889B-1D48DC021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71875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0243E"/>
                </a:solidFill>
              </a:defRPr>
            </a:pPr>
            <a:r>
              <a:rPr sz="2250" b="1">
                <a:solidFill>
                  <a:srgbClr val="10243E"/>
                </a:solidFill>
              </a:rPr>
              <a:t>Веб-CRM доступна</a:t>
            </a:r>
          </a:p>
          <a:p xmlns:a="http://schemas.openxmlformats.org/drawingml/2006/main">
            <a:pPr algn="l">
              <a:buNone/>
              <a:defRPr sz="2250" b="1">
                <a:solidFill>
                  <a:srgbClr val="10243E"/>
                </a:solidFill>
              </a:defRPr>
            </a:pPr>
            <a:r>
              <a:rPr sz="2250" b="1">
                <a:solidFill>
                  <a:srgbClr val="10243E"/>
                </a:solidFill>
              </a:rPr>
              <a:t>профессиональным участникам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3394BD-9A38-4C2B-92DC-4A30423E7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14875"/>
            <a:ext cx="4000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9B46"/>
          </a:solidFill>
          <a:ln xmlns:a="http://schemas.openxmlformats.org/drawingml/2006/main" w="0">
            <a:solidFill>
              <a:srgbClr val="C59B4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6706BD-9A52-4F0F-8D92-E36064C16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981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98A"/>
                </a:solidFill>
              </a:defRPr>
            </a:pPr>
            <a:r>
              <a:rPr sz="1350" b="0">
                <a:solidFill>
                  <a:srgbClr val="66798A"/>
                </a:solidFill>
              </a:rPr>
              <a:t>Объекты — в Удмуртии. Объявления выходят без проверки; модерация и базовая юридическая проверка — в плане.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D98776-6BD4-41E7-85BC-89A621BCE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6798A"/>
                </a:solidFill>
              </a:defRPr>
            </a:pPr>
            <a:r>
              <a:rPr sz="825" b="1">
                <a:solidFill>
                  <a:srgbClr val="66798A"/>
                </a:solidFill>
              </a:rPr>
              <a:t>БАСТ НЕДВИЖИМОСТЬ   •   КОНФИДЕНЦИАЛЬНО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E4929D-9959-48F3-BA8A-97DE77A9E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6798A"/>
                </a:solidFill>
              </a:defRPr>
            </a:pPr>
            <a:r>
              <a:rPr sz="825" b="1">
                <a:solidFill>
                  <a:srgbClr val="66798A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976273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C5EDD1-16BA-445F-95A8-D2B931EFA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43E"/>
                </a:solidFill>
              </a:defRPr>
            </a:pPr>
            <a:r>
              <a:rPr sz="2850" b="1">
                <a:solidFill>
                  <a:srgbClr val="10243E"/>
                </a:solidFill>
              </a:rPr>
              <a:t>Инвестор получает долю в работающем продуктовом контуре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BDE7B5-90B5-4E60-89AB-5F6EE8375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C59B46"/>
                </a:solidFill>
              </a:defRPr>
            </a:pPr>
            <a:r>
              <a:rPr sz="1650" b="1">
                <a:solidFill>
                  <a:srgbClr val="C59B46"/>
                </a:solidFill>
              </a:rPr>
              <a:t>ПРОДУКТ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9CD3BF-7B60-4864-8125-45DCDD037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243E"/>
                </a:solidFill>
              </a:defRPr>
            </a:pPr>
            <a:r>
              <a:rPr sz="1950" b="1">
                <a:solidFill>
                  <a:srgbClr val="10243E"/>
                </a:solidFill>
              </a:rPr>
              <a:t>Приложения в магазинах</a:t>
            </a:r>
          </a:p>
          <a:p xmlns:a="http://schemas.openxmlformats.org/drawingml/2006/main">
            <a:pPr algn="l">
              <a:buNone/>
              <a:defRPr sz="1950" b="1">
                <a:solidFill>
                  <a:srgbClr val="10243E"/>
                </a:solidFill>
              </a:defRPr>
            </a:pPr>
            <a:r>
              <a:rPr sz="1950" b="1">
                <a:solidFill>
                  <a:srgbClr val="10243E"/>
                </a:solidFill>
              </a:rPr>
              <a:t>Веб-CRM</a:t>
            </a:r>
          </a:p>
          <a:p xmlns:a="http://schemas.openxmlformats.org/drawingml/2006/main">
            <a:pPr algn="l">
              <a:buNone/>
              <a:defRPr sz="1950" b="1">
                <a:solidFill>
                  <a:srgbClr val="10243E"/>
                </a:solidFill>
              </a:defRPr>
            </a:pPr>
            <a:r>
              <a:rPr sz="1950" b="1">
                <a:solidFill>
                  <a:srgbClr val="10243E"/>
                </a:solidFill>
              </a:rPr>
              <a:t>Общая модель данных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E2D457-FB02-4D15-8C46-0A1837811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8097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C59B46"/>
                </a:solidFill>
              </a:defRPr>
            </a:pPr>
            <a:r>
              <a:rPr sz="1650" b="1">
                <a:solidFill>
                  <a:srgbClr val="C59B46"/>
                </a:solidFill>
              </a:rPr>
              <a:t>СЕТЬ ПРОДАЖ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F29BAD-DDF6-4697-A80C-CFB3067C9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5336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243E"/>
                </a:solidFill>
              </a:defRPr>
            </a:pPr>
            <a:r>
              <a:rPr sz="1950" b="1">
                <a:solidFill>
                  <a:srgbClr val="10243E"/>
                </a:solidFill>
              </a:rPr>
              <a:t>Общий пул объектов</a:t>
            </a:r>
          </a:p>
          <a:p xmlns:a="http://schemas.openxmlformats.org/drawingml/2006/main">
            <a:pPr algn="l">
              <a:buNone/>
              <a:defRPr sz="1950" b="1">
                <a:solidFill>
                  <a:srgbClr val="10243E"/>
                </a:solidFill>
              </a:defRPr>
            </a:pPr>
            <a:r>
              <a:rPr sz="1950" b="1">
                <a:solidFill>
                  <a:srgbClr val="10243E"/>
                </a:solidFill>
              </a:rPr>
              <a:t>Ролевые сценарии</a:t>
            </a:r>
          </a:p>
          <a:p xmlns:a="http://schemas.openxmlformats.org/drawingml/2006/main">
            <a:pPr algn="l">
              <a:buNone/>
              <a:defRPr sz="1950" b="1">
                <a:solidFill>
                  <a:srgbClr val="10243E"/>
                </a:solidFill>
              </a:defRPr>
            </a:pPr>
            <a:r>
              <a:rPr sz="1950" b="1">
                <a:solidFill>
                  <a:srgbClr val="10243E"/>
                </a:solidFill>
              </a:rPr>
              <a:t>Фиксация источника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5F5A6E-3DBD-45F7-8AD0-08CAD9A0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097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C59B46"/>
                </a:solidFill>
              </a:defRPr>
            </a:pPr>
            <a:r>
              <a:rPr sz="1650" b="1">
                <a:solidFill>
                  <a:srgbClr val="C59B46"/>
                </a:solidFill>
              </a:rPr>
              <a:t>МАСШТАБИРОВАНИЕ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78F2D0-8E7D-4EA0-9E1F-3895B316A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5336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243E"/>
                </a:solidFill>
              </a:defRPr>
            </a:pPr>
            <a:r>
              <a:rPr sz="1950" b="1">
                <a:solidFill>
                  <a:srgbClr val="10243E"/>
                </a:solidFill>
              </a:rPr>
              <a:t>Новые регионы</a:t>
            </a:r>
          </a:p>
          <a:p xmlns:a="http://schemas.openxmlformats.org/drawingml/2006/main">
            <a:pPr algn="l">
              <a:buNone/>
              <a:defRPr sz="1950" b="1">
                <a:solidFill>
                  <a:srgbClr val="10243E"/>
                </a:solidFill>
              </a:defRPr>
            </a:pPr>
            <a:r>
              <a:rPr sz="1950" b="1">
                <a:solidFill>
                  <a:srgbClr val="10243E"/>
                </a:solidFill>
              </a:rPr>
              <a:t>Партнёры и команды</a:t>
            </a:r>
          </a:p>
          <a:p xmlns:a="http://schemas.openxmlformats.org/drawingml/2006/main">
            <a:pPr algn="l">
              <a:buNone/>
              <a:defRPr sz="1950" b="1">
                <a:solidFill>
                  <a:srgbClr val="10243E"/>
                </a:solidFill>
              </a:defRPr>
            </a:pPr>
            <a:r>
              <a:rPr sz="1950" b="1">
                <a:solidFill>
                  <a:srgbClr val="10243E"/>
                </a:solidFill>
              </a:rPr>
              <a:t>Монетизация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E29C04-4982-4C15-B054-CD075FF2E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1009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23548"/>
                </a:solidFill>
              </a:defRPr>
            </a:pPr>
            <a:r>
              <a:rPr sz="1800" b="0">
                <a:solidFill>
                  <a:srgbClr val="223548"/>
                </a:solidFill>
              </a:rPr>
              <a:t>Платформа может развиваться самостоятельно или войти в экосистему девелопера, агентской сети, классифайда или банка.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99A529-DBD1-47BF-845C-A76CBD37F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6798A"/>
                </a:solidFill>
              </a:defRPr>
            </a:pPr>
            <a:r>
              <a:rPr sz="825" b="1">
                <a:solidFill>
                  <a:srgbClr val="66798A"/>
                </a:solidFill>
              </a:rPr>
              <a:t>БАСТ НЕДВИЖИМОСТЬ   •   КОНФИДЕНЦИАЛЬНО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76B4EB-34DD-48BE-9CCE-1FA6A2F8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6798A"/>
                </a:solidFill>
              </a:defRPr>
            </a:pPr>
            <a:r>
              <a:rPr sz="825" b="1">
                <a:solidFill>
                  <a:srgbClr val="66798A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2158725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C5EDD1-16BA-445F-95A8-D2B931EFA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43E"/>
                </a:solidFill>
              </a:defRPr>
            </a:pPr>
            <a:r>
              <a:rPr sz="2850" b="1">
                <a:solidFill>
                  <a:srgbClr val="10243E"/>
                </a:solidFill>
              </a:rPr>
              <a:t>Пять каналов монетизации вокруг сети и сделок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BDE7B5-90B5-4E60-89AB-5F6EE8375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C59B46"/>
                </a:solidFill>
              </a:defRPr>
            </a:pPr>
            <a:r>
              <a:rPr sz="1650" b="1">
                <a:solidFill>
                  <a:srgbClr val="C59B46"/>
                </a:solidFill>
              </a:rPr>
              <a:t>ПОДПИСКА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9CD3BF-7B60-4864-8125-45DCDD037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243E"/>
                </a:solidFill>
              </a:defRPr>
            </a:pPr>
            <a:r>
              <a:rPr sz="1950" b="1">
                <a:solidFill>
                  <a:srgbClr val="10243E"/>
                </a:solidFill>
              </a:rPr>
              <a:t>Профессиональные функции</a:t>
            </a:r>
          </a:p>
          <a:p xmlns:a="http://schemas.openxmlformats.org/drawingml/2006/main">
            <a:pPr algn="l">
              <a:buNone/>
              <a:defRPr sz="1950" b="1">
                <a:solidFill>
                  <a:srgbClr val="10243E"/>
                </a:solidFill>
              </a:defRPr>
            </a:pPr>
            <a:r>
              <a:rPr sz="1950" b="1">
                <a:solidFill>
                  <a:srgbClr val="10243E"/>
                </a:solidFill>
              </a:rPr>
              <a:t>Веб-CRM</a:t>
            </a:r>
          </a:p>
          <a:p xmlns:a="http://schemas.openxmlformats.org/drawingml/2006/main">
            <a:pPr algn="l">
              <a:buNone/>
              <a:defRPr sz="1950" b="1">
                <a:solidFill>
                  <a:srgbClr val="10243E"/>
                </a:solidFill>
              </a:defRPr>
            </a:pPr>
            <a:r>
              <a:rPr sz="1950" b="1">
                <a:solidFill>
                  <a:srgbClr val="10243E"/>
                </a:solidFill>
              </a:rPr>
              <a:t>Управление командой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E2D457-FB02-4D15-8C46-0A1837811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8097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C59B46"/>
                </a:solidFill>
              </a:defRPr>
            </a:pPr>
            <a:r>
              <a:rPr sz="1650" b="1">
                <a:solidFill>
                  <a:srgbClr val="C59B46"/>
                </a:solidFill>
              </a:rPr>
              <a:t>ТРАНЗАКЦИИ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F29BAD-DDF6-4697-A80C-CFB3067C9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5336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243E"/>
                </a:solidFill>
              </a:defRPr>
            </a:pPr>
            <a:r>
              <a:rPr sz="1950" b="1">
                <a:solidFill>
                  <a:srgbClr val="10243E"/>
                </a:solidFill>
              </a:rPr>
              <a:t>Комиссия со сделок</a:t>
            </a:r>
          </a:p>
          <a:p xmlns:a="http://schemas.openxmlformats.org/drawingml/2006/main">
            <a:pPr algn="l">
              <a:buNone/>
              <a:defRPr sz="1950" b="1">
                <a:solidFill>
                  <a:srgbClr val="10243E"/>
                </a:solidFill>
              </a:defRPr>
            </a:pPr>
            <a:r>
              <a:rPr sz="1950" b="1">
                <a:solidFill>
                  <a:srgbClr val="10243E"/>
                </a:solidFill>
              </a:rPr>
              <a:t>Продвижение объектов</a:t>
            </a:r>
          </a:p>
          <a:p xmlns:a="http://schemas.openxmlformats.org/drawingml/2006/main">
            <a:pPr algn="l">
              <a:buNone/>
              <a:defRPr sz="1950" b="1">
                <a:solidFill>
                  <a:srgbClr val="10243E"/>
                </a:solidFill>
              </a:defRPr>
            </a:pPr>
            <a:r>
              <a:rPr sz="1950" b="1">
                <a:solidFill>
                  <a:srgbClr val="10243E"/>
                </a:solidFill>
              </a:rPr>
              <a:t>Дополнительные сервисы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5F5A6E-3DBD-45F7-8AD0-08CAD9A0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097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C59B46"/>
                </a:solidFill>
              </a:defRPr>
            </a:pPr>
            <a:r>
              <a:rPr sz="1650" b="1">
                <a:solidFill>
                  <a:srgbClr val="C59B46"/>
                </a:solidFill>
              </a:rPr>
              <a:t>ПАРТНЁРСТВА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78F2D0-8E7D-4EA0-9E1F-3895B316A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5336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243E"/>
                </a:solidFill>
              </a:defRPr>
            </a:pPr>
            <a:r>
              <a:rPr sz="1950" b="1">
                <a:solidFill>
                  <a:srgbClr val="10243E"/>
                </a:solidFill>
              </a:rPr>
              <a:t>Сертификаты партнёров</a:t>
            </a:r>
          </a:p>
          <a:p xmlns:a="http://schemas.openxmlformats.org/drawingml/2006/main">
            <a:pPr algn="l">
              <a:buNone/>
              <a:defRPr sz="1950" b="1">
                <a:solidFill>
                  <a:srgbClr val="10243E"/>
                </a:solidFill>
              </a:defRPr>
            </a:pPr>
            <a:r>
              <a:rPr sz="1950" b="1">
                <a:solidFill>
                  <a:srgbClr val="10243E"/>
                </a:solidFill>
              </a:rPr>
              <a:t>Реклама</a:t>
            </a:r>
          </a:p>
          <a:p xmlns:a="http://schemas.openxmlformats.org/drawingml/2006/main">
            <a:pPr algn="l">
              <a:buNone/>
              <a:defRPr sz="1950" b="1">
                <a:solidFill>
                  <a:srgbClr val="10243E"/>
                </a:solidFill>
              </a:defRPr>
            </a:pPr>
            <a:r>
              <a:rPr sz="1950" b="1">
                <a:solidFill>
                  <a:srgbClr val="10243E"/>
                </a:solidFill>
              </a:rPr>
              <a:t>Совместные программы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E29C04-4982-4C15-B054-CD075FF2E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1009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23548"/>
                </a:solidFill>
              </a:defRPr>
            </a:pPr>
            <a:r>
              <a:rPr sz="1800" b="0">
                <a:solidFill>
                  <a:srgbClr val="223548"/>
                </a:solidFill>
              </a:rPr>
              <a:t>Модель монетизации и экономика работы с риэлторами требуют проверки вместе с инвестором.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99A529-DBD1-47BF-845C-A76CBD37F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6798A"/>
                </a:solidFill>
              </a:defRPr>
            </a:pPr>
            <a:r>
              <a:rPr sz="825" b="1">
                <a:solidFill>
                  <a:srgbClr val="66798A"/>
                </a:solidFill>
              </a:rPr>
              <a:t>БАСТ НЕДВИЖИМОСТЬ   •   КОНФИДЕНЦИАЛЬНО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76B4EB-34DD-48BE-9CCE-1FA6A2F8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6798A"/>
                </a:solidFill>
              </a:defRPr>
            </a:pPr>
            <a:r>
              <a:rPr sz="825" b="1">
                <a:solidFill>
                  <a:srgbClr val="66798A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2158725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EEF2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09A7A9-0796-4494-9FC1-B05F12699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43E"/>
                </a:solidFill>
              </a:defRPr>
            </a:pPr>
            <a:r>
              <a:rPr sz="2850" b="1">
                <a:solidFill>
                  <a:srgbClr val="10243E"/>
                </a:solidFill>
              </a:rPr>
              <a:t>Пять направлений роста после сделки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8FC75A-AEEE-40F9-8AD5-BEF818A91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C59B46"/>
                </a:solidFill>
              </a:defRPr>
            </a:pPr>
            <a:r>
              <a:rPr sz="1350" b="1">
                <a:solidFill>
                  <a:srgbClr val="C59B46"/>
                </a:solidFill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D7A5F4-2A36-460B-B020-A6612E8E2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762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243E"/>
                </a:solidFill>
              </a:defRPr>
            </a:pPr>
            <a:r>
              <a:rPr sz="2025" b="1">
                <a:solidFill>
                  <a:srgbClr val="10243E"/>
                </a:solidFill>
              </a:rPr>
              <a:t>Расширить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10243E"/>
                </a:solidFill>
              </a:defRPr>
            </a:pPr>
            <a:r>
              <a:rPr sz="2025" b="1">
                <a:solidFill>
                  <a:srgbClr val="10243E"/>
                </a:solidFill>
              </a:rPr>
              <a:t>географию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B14145-336F-4DAB-8194-DD4B58D57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38550"/>
            <a:ext cx="1762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4CE"/>
          </a:solidFill>
          <a:ln xmlns:a="http://schemas.openxmlformats.org/drawingml/2006/main" w="0">
            <a:solidFill>
              <a:srgbClr val="B9C4C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51F120-4C63-4D45-B731-D81DD2A03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180975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C59B46"/>
                </a:solidFill>
              </a:defRPr>
            </a:pPr>
            <a:r>
              <a:rPr sz="1350" b="1">
                <a:solidFill>
                  <a:srgbClr val="C59B46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C4C76B-3778-4E02-8031-8901535DC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324100"/>
            <a:ext cx="1762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243E"/>
                </a:solidFill>
              </a:defRPr>
            </a:pPr>
            <a:r>
              <a:rPr sz="2025" b="1">
                <a:solidFill>
                  <a:srgbClr val="10243E"/>
                </a:solidFill>
              </a:rPr>
              <a:t>Подключить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10243E"/>
                </a:solidFill>
              </a:defRPr>
            </a:pPr>
            <a:r>
              <a:rPr sz="2025" b="1">
                <a:solidFill>
                  <a:srgbClr val="10243E"/>
                </a:solidFill>
              </a:rPr>
              <a:t>партнёров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623D20-FE1F-4EEB-A791-94B4CE1A9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638550"/>
            <a:ext cx="1762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4CE"/>
          </a:solidFill>
          <a:ln xmlns:a="http://schemas.openxmlformats.org/drawingml/2006/main" w="0">
            <a:solidFill>
              <a:srgbClr val="B9C4C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CE36F7-EB06-4CF3-9C98-270E14890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80975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C59B46"/>
                </a:solidFill>
              </a:defRPr>
            </a:pPr>
            <a:r>
              <a:rPr sz="1350" b="1">
                <a:solidFill>
                  <a:srgbClr val="C59B46"/>
                </a:solidFill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DC8DA6-E7D1-4A3F-813D-8E8648BA1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324100"/>
            <a:ext cx="1762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243E"/>
                </a:solidFill>
              </a:defRPr>
            </a:pPr>
            <a:r>
              <a:rPr sz="2025" b="1">
                <a:solidFill>
                  <a:srgbClr val="10243E"/>
                </a:solidFill>
              </a:rPr>
              <a:t>Запустить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10243E"/>
                </a:solidFill>
              </a:defRPr>
            </a:pPr>
            <a:r>
              <a:rPr sz="2025" b="1">
                <a:solidFill>
                  <a:srgbClr val="10243E"/>
                </a:solidFill>
              </a:rPr>
              <a:t>модерацию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D5E821-47BE-4582-BDD7-3E2A60AEF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638550"/>
            <a:ext cx="1762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4CE"/>
          </a:solidFill>
          <a:ln xmlns:a="http://schemas.openxmlformats.org/drawingml/2006/main" w="0">
            <a:solidFill>
              <a:srgbClr val="B9C4C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C527D1-ACAC-433F-AC60-A1B326C43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180975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C59B46"/>
                </a:solidFill>
              </a:defRPr>
            </a:pPr>
            <a:r>
              <a:rPr sz="1350" b="1">
                <a:solidFill>
                  <a:srgbClr val="C59B46"/>
                </a:solidFill>
              </a:rPr>
              <a:t>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818EA2-97CC-4200-9901-7EDEE2A29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324100"/>
            <a:ext cx="1762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243E"/>
                </a:solidFill>
              </a:defRPr>
            </a:pPr>
            <a:r>
              <a:rPr sz="2025" b="1">
                <a:solidFill>
                  <a:srgbClr val="10243E"/>
                </a:solidFill>
              </a:rPr>
              <a:t>Проверить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10243E"/>
                </a:solidFill>
              </a:defRPr>
            </a:pPr>
            <a:r>
              <a:rPr sz="2025" b="1">
                <a:solidFill>
                  <a:srgbClr val="10243E"/>
                </a:solidFill>
              </a:rPr>
              <a:t>монетизацию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0E5D50-B5C4-4EE7-8144-7E228C0B7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638550"/>
            <a:ext cx="1762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4CE"/>
          </a:solidFill>
          <a:ln xmlns:a="http://schemas.openxmlformats.org/drawingml/2006/main" w="0">
            <a:solidFill>
              <a:srgbClr val="B9C4C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4179A0-0047-4391-8806-86931A291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80975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C59B46"/>
                </a:solidFill>
              </a:defRPr>
            </a:pPr>
            <a:r>
              <a:rPr sz="1350" b="1">
                <a:solidFill>
                  <a:srgbClr val="C59B46"/>
                </a:solidFill>
              </a:rPr>
              <a:t>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427636-4777-4177-AEBB-E4C72246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324100"/>
            <a:ext cx="1762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243E"/>
                </a:solidFill>
              </a:defRPr>
            </a:pPr>
            <a:r>
              <a:rPr sz="2025" b="1">
                <a:solidFill>
                  <a:srgbClr val="10243E"/>
                </a:solidFill>
              </a:rPr>
              <a:t>Развить CRM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10243E"/>
                </a:solidFill>
              </a:defRPr>
            </a:pPr>
            <a:r>
              <a:rPr sz="2025" b="1">
                <a:solidFill>
                  <a:srgbClr val="10243E"/>
                </a:solidFill>
              </a:rPr>
              <a:t>и аналитику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587F47-226B-4117-9C4B-FD669E256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857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223548"/>
                </a:solidFill>
              </a:defRPr>
            </a:pPr>
            <a:r>
              <a:rPr sz="2025" b="0">
                <a:solidFill>
                  <a:srgbClr val="223548"/>
                </a:solidFill>
              </a:rPr>
              <a:t>Порядок работ определим вместе с инвестором. Отдельный приоритет — модель вознаграждения участников сделки.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2F18E6-D454-4EEB-AF0C-5B1601111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76750"/>
            <a:ext cx="18859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2625" b="1">
                <a:solidFill>
                  <a:srgbClr val="C59B46"/>
                </a:solidFill>
              </a:defRPr>
            </a:pPr>
            <a:r>
              <a:rPr sz="2625" b="1">
                <a:solidFill>
                  <a:srgbClr val="C59B46"/>
                </a:solidFill>
              </a:rPr>
              <a:t>01 → 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4919C7-DB3E-4244-8B4C-E11B3B730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6798A"/>
                </a:solidFill>
              </a:defRPr>
            </a:pPr>
            <a:r>
              <a:rPr sz="825" b="1">
                <a:solidFill>
                  <a:srgbClr val="66798A"/>
                </a:solidFill>
              </a:rPr>
              <a:t>БАСТ НЕДВИЖИМОСТЬ   •   КОНФИДЕНЦИАЛЬНО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DCE813-3977-4722-AE5E-6D8DD64FE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6798A"/>
                </a:solidFill>
              </a:defRPr>
            </a:pPr>
            <a:r>
              <a:rPr sz="825" b="1">
                <a:solidFill>
                  <a:srgbClr val="66798A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76777973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24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A192C3-8381-4F6E-A8A2-03A488086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Приоритет — продажа доли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0B6C2C-E3EB-4D6E-A794-2599B0098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C59B46"/>
                </a:solidFill>
              </a:defRPr>
            </a:pPr>
            <a:r>
              <a:rPr sz="1800" b="1">
                <a:solidFill>
                  <a:srgbClr val="C59B46"/>
                </a:solidFill>
              </a:rPr>
              <a:t>ДОЛЯ У СОБСТВЕННИКА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888E81-674A-4632-92A8-C918B6F9D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2857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Инвестор приобретает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согласованную долю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A910FA-F3E9-40D6-8675-92480D8EF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D8B567"/>
                </a:solidFill>
              </a:defRPr>
            </a:pPr>
            <a:r>
              <a:rPr sz="1275" b="1">
                <a:solidFill>
                  <a:srgbClr val="D8B567"/>
                </a:solidFill>
              </a:rPr>
              <a:t>Проект продолжает развиваться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69B3CC-A533-4282-BC33-8D4FEB061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516C"/>
          </a:solidFill>
          <a:ln xmlns:a="http://schemas.openxmlformats.org/drawingml/2006/main" w="0">
            <a:solidFill>
              <a:srgbClr val="33516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6B6136-14B2-4C7D-B0F3-7020AFFC5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952625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C59B46"/>
                </a:solidFill>
              </a:defRPr>
            </a:pPr>
            <a:r>
              <a:rPr sz="1800" b="1">
                <a:solidFill>
                  <a:srgbClr val="C59B46"/>
                </a:solidFill>
              </a:rPr>
              <a:t>КОМБИНИРОВАННЫЙ ВАРИАНТ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7D2401-0A7E-4F9D-A169-C575CA881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24150"/>
            <a:ext cx="333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Часть средств собственнику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Часть — в компанию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464A1D-0E1A-4C8D-A2A0-1D82C8291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943350"/>
            <a:ext cx="333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D8B567"/>
                </a:solidFill>
              </a:defRPr>
            </a:pPr>
            <a:r>
              <a:rPr sz="1275" b="1">
                <a:solidFill>
                  <a:srgbClr val="D8B567"/>
                </a:solidFill>
              </a:rPr>
              <a:t>Баланс сделки и роста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58FDDB-24CE-49DF-8F28-9AB9FEDDC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762500"/>
            <a:ext cx="333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516C"/>
          </a:solidFill>
          <a:ln xmlns:a="http://schemas.openxmlformats.org/drawingml/2006/main" w="0">
            <a:solidFill>
              <a:srgbClr val="33516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7D1EC8-D132-430F-AB9A-31D5FBD19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952625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C59B46"/>
                </a:solidFill>
              </a:defRPr>
            </a:pPr>
            <a:r>
              <a:rPr sz="1800" b="1">
                <a:solidFill>
                  <a:srgbClr val="C59B46"/>
                </a:solidFill>
              </a:rPr>
              <a:t>ПОЛНЫЙ ВЫКУП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BD7578-0198-4AAA-B71F-12CBF84EF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724150"/>
            <a:ext cx="2857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Отдельная договорённость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сторон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0917AC-A404-4889-822F-0083F4F90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943350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D8B567"/>
                </a:solidFill>
              </a:defRPr>
            </a:pPr>
            <a:r>
              <a:rPr sz="1275" b="1">
                <a:solidFill>
                  <a:srgbClr val="D8B567"/>
                </a:solidFill>
              </a:rPr>
              <a:t>Не основной сценарий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28B696-ECC3-44C8-9595-222C26795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76250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516C"/>
          </a:solidFill>
          <a:ln xmlns:a="http://schemas.openxmlformats.org/drawingml/2006/main" w="0">
            <a:solidFill>
              <a:srgbClr val="33516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596BA8-6166-4DDD-9D1E-3BFFD4846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DCE4EA"/>
                </a:solidFill>
              </a:defRPr>
            </a:pPr>
            <a:r>
              <a:rPr sz="1800" b="1">
                <a:solidFill>
                  <a:srgbClr val="DCE4EA"/>
                </a:solidFill>
              </a:rPr>
              <a:t>Размер доли, оценку и права инвестора согласуем после демонстрации и NDA.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324EEF-1011-4FFF-84A9-451C8304E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B8C4CF"/>
                </a:solidFill>
              </a:defRPr>
            </a:pPr>
            <a:r>
              <a:rPr sz="825" b="1">
                <a:solidFill>
                  <a:srgbClr val="B8C4CF"/>
                </a:solidFill>
              </a:rPr>
              <a:t>БАСТ НЕДВИЖИМОСТЬ   •   КОНФИДЕНЦИАЛЬНО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1D3344-0C60-428F-AC21-5E026BB3F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B8C4CF"/>
                </a:solidFill>
              </a:defRPr>
            </a:pPr>
            <a:r>
              <a:rPr sz="825" b="1">
                <a:solidFill>
                  <a:srgbClr val="B8C4CF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2075696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024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486F33-5307-4C6E-9D15-6D8A72403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C59B46"/>
                </a:solidFill>
              </a:defRPr>
            </a:pPr>
            <a:r>
              <a:rPr sz="1275" b="1">
                <a:solidFill>
                  <a:srgbClr val="C59B46"/>
                </a:solidFill>
              </a:rPr>
              <a:t>СЛЕДУЮЩИЙ ШАГ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142236-A0B1-4DE7-A3B0-13386F592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8953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75" b="1">
                <a:solidFill>
                  <a:srgbClr val="FFFFFF"/>
                </a:solidFill>
              </a:defRPr>
            </a:pPr>
            <a:r>
              <a:rPr sz="3675" b="1">
                <a:solidFill>
                  <a:srgbClr val="FFFFFF"/>
                </a:solidFill>
              </a:rPr>
              <a:t>Демонстрация продукта и обсуждение структуры участия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4E1340-5473-42DA-8536-CBB2179FD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DCE4EA"/>
                </a:solidFill>
              </a:defRPr>
            </a:pPr>
            <a:r>
              <a:rPr sz="1800" b="0">
                <a:solidFill>
                  <a:srgbClr val="DCE4EA"/>
                </a:solidFill>
              </a:rPr>
              <a:t>1. Демонстрация  •  2. NDA и data room  •  3. Условия участия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130ADB-7909-4D78-B266-BFDFE8E72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9625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9B46"/>
          </a:solidFill>
          <a:ln xmlns:a="http://schemas.openxmlformats.org/drawingml/2006/main" w="0">
            <a:solidFill>
              <a:srgbClr val="C59B4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43F732-EDD3-415C-9C02-6F38B312D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Контакты и доступ к демонстрации — по запросу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B41464-2CCB-4AF0-88B7-9D35C08A1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B8C4CF"/>
                </a:solidFill>
              </a:defRPr>
            </a:pPr>
            <a:r>
              <a:rPr sz="1350" b="0">
                <a:solidFill>
                  <a:srgbClr val="B8C4CF"/>
                </a:solidFill>
              </a:rPr>
              <a:t>Доля и оценка — после первичной встречи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27FA47-7EC6-42AD-8105-752C4327D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B8C4CF"/>
                </a:solidFill>
              </a:defRPr>
            </a:pPr>
            <a:r>
              <a:rPr sz="825" b="1">
                <a:solidFill>
                  <a:srgbClr val="B8C4CF"/>
                </a:solidFill>
              </a:rPr>
              <a:t>БАСТ НЕДВИЖИМОСТЬ   •   КОНФИДЕНЦИАЛЬНО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256A9D-5D41-4BE6-9593-ABE4B93ED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B8C4CF"/>
                </a:solidFill>
              </a:defRPr>
            </a:pPr>
            <a:r>
              <a:rPr sz="825" b="1">
                <a:solidFill>
                  <a:srgbClr val="B8C4CF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682553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2026-08-02T22:13:58.5810000Z</dcterms:created>
  <dcterms:modified xsi:type="dcterms:W3CDTF">2026-08-02T22:13:58.5810000Z</dcterms:modified>
</coreProperties>
</file>