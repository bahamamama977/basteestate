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07d5b3ef374226" /><Relationship Type="http://schemas.openxmlformats.org/officeDocument/2006/relationships/extended-properties" Target="/docProps/app.xml" Id="R3b375346f7994f31" /><Relationship Type="http://schemas.openxmlformats.org/officeDocument/2006/relationships/officeDocument" Target="/ppt/presentation.xml" Id="R6f2a4788df1640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91702e4a94d1c"/>
  </p:sldMasterIdLst>
  <p:notesMasterIdLst>
    <p:notesMasterId xmlns:r="http://schemas.openxmlformats.org/officeDocument/2006/relationships" r:id="Rf98f56c8a0a54abf"/>
  </p:notesMasterIdLst>
  <p:sldIdLst>
    <p:sldId xmlns:r="http://schemas.openxmlformats.org/officeDocument/2006/relationships" id="256" r:id="Rf682b613dab14086"/>
    <p:sldId xmlns:r="http://schemas.openxmlformats.org/officeDocument/2006/relationships" id="257" r:id="R78a10df52aff446d"/>
    <p:sldId xmlns:r="http://schemas.openxmlformats.org/officeDocument/2006/relationships" id="258" r:id="R11cf85a11e8a4fba"/>
    <p:sldId xmlns:r="http://schemas.openxmlformats.org/officeDocument/2006/relationships" id="259" r:id="R8a58356d17df437d"/>
    <p:sldId xmlns:r="http://schemas.openxmlformats.org/officeDocument/2006/relationships" id="260" r:id="R61902d34d63b4eb6"/>
    <p:sldId xmlns:r="http://schemas.openxmlformats.org/officeDocument/2006/relationships" id="261" r:id="Rcd54e518753e40ee"/>
    <p:sldId xmlns:r="http://schemas.openxmlformats.org/officeDocument/2006/relationships" id="262" r:id="R23c8be2b2b51476f"/>
    <p:sldId xmlns:r="http://schemas.openxmlformats.org/officeDocument/2006/relationships" id="263" r:id="R6c4608a2f28d44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74b207d754b28" /><Relationship Type="http://schemas.openxmlformats.org/officeDocument/2006/relationships/slideMaster" Target="/ppt/slideMasters/slideMaster1.xml" Id="R8ca91702e4a94d1c" /><Relationship Type="http://schemas.openxmlformats.org/officeDocument/2006/relationships/notesMaster" Target="/ppt/notesMasters/notesMaster1.xml" Id="Rf98f56c8a0a54abf" /><Relationship Type="http://schemas.openxmlformats.org/officeDocument/2006/relationships/presProps" Target="/ppt/presProps.xml" Id="R857d04fd8d164d7c" /><Relationship Type="http://schemas.openxmlformats.org/officeDocument/2006/relationships/tableStyles" Target="/ppt/tableStyles.xml" Id="Re9b6694a42b841ef" /><Relationship Type="http://schemas.openxmlformats.org/officeDocument/2006/relationships/slide" Target="/ppt/slides/slide1.xml" Id="Rf682b613dab14086" /><Relationship Type="http://schemas.openxmlformats.org/officeDocument/2006/relationships/slide" Target="/ppt/slides/slide2.xml" Id="R78a10df52aff446d" /><Relationship Type="http://schemas.openxmlformats.org/officeDocument/2006/relationships/slide" Target="/ppt/slides/slide3.xml" Id="R11cf85a11e8a4fba" /><Relationship Type="http://schemas.openxmlformats.org/officeDocument/2006/relationships/slide" Target="/ppt/slides/slide4.xml" Id="R8a58356d17df437d" /><Relationship Type="http://schemas.openxmlformats.org/officeDocument/2006/relationships/slide" Target="/ppt/slides/slide5.xml" Id="R61902d34d63b4eb6" /><Relationship Type="http://schemas.openxmlformats.org/officeDocument/2006/relationships/slide" Target="/ppt/slides/slide6.xml" Id="Rcd54e518753e40ee" /><Relationship Type="http://schemas.openxmlformats.org/officeDocument/2006/relationships/slide" Target="/ppt/slides/slide7.xml" Id="R23c8be2b2b51476f" /><Relationship Type="http://schemas.openxmlformats.org/officeDocument/2006/relationships/slide" Target="/ppt/slides/slide8.xml" Id="R6c4608a2f28d44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94a1aedfc940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d7447fcb34ea0" /><Relationship Type="http://schemas.openxmlformats.org/officeDocument/2006/relationships/notesMaster" Target="/ppt/notesMasters/notesMaster1.xml" Id="R32ff37ae68e443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f3952a2624f93" /><Relationship Type="http://schemas.openxmlformats.org/officeDocument/2006/relationships/notesMaster" Target="/ppt/notesMasters/notesMaster1.xml" Id="R2079e935549e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917e0433345ff" /><Relationship Type="http://schemas.openxmlformats.org/officeDocument/2006/relationships/notesMaster" Target="/ppt/notesMasters/notesMaster1.xml" Id="R4ce18536fbf146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fa925694cb498a" /><Relationship Type="http://schemas.openxmlformats.org/officeDocument/2006/relationships/notesMaster" Target="/ppt/notesMasters/notesMaster1.xml" Id="Rf10cc517eac0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a0dc90e4e14d4b" /><Relationship Type="http://schemas.openxmlformats.org/officeDocument/2006/relationships/notesMaster" Target="/ppt/notesMasters/notesMaster1.xml" Id="R5093934f2243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9c4cd6d0ae4ff7" /><Relationship Type="http://schemas.openxmlformats.org/officeDocument/2006/relationships/notesMaster" Target="/ppt/notesMasters/notesMaster1.xml" Id="R1dbf15ad67aa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acd0d24c8645b9" /><Relationship Type="http://schemas.openxmlformats.org/officeDocument/2006/relationships/notesMaster" Target="/ppt/notesMasters/notesMaster1.xml" Id="R66765aab808f46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efd3ac1429422d" /><Relationship Type="http://schemas.openxmlformats.org/officeDocument/2006/relationships/notesMaster" Target="/ppt/notesMasters/notesMaster1.xml" Id="R00f40c2cd00147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concept.md и продуктовые материалы репозитория.</a:t>
            </a:r>
          </a:p>
          <a:p xmlns:a="http://schemas.openxmlformats.org/drawingml/2006/main">
            <a:r>
              <a:t>Изображение: project/public/images/generated/bast-hero-collaboration-real-v2.webp.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concept.md, разделы 2–4 и 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ADR 2026-07-30 platform category and product interfaces.</a:t>
            </a:r>
          </a:p>
          <a:p xmlns:a="http://schemas.openxmlformats.org/drawingml/2006/main">
            <a:r>
              <a:t>Изображения: bast-role-buyer-day-real-v2.webp; bast-deal-documents-real-v2.webp.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concept.md, раздел 3; ADR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concept.md, этапы сделки и сценарии QR.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ADR 2026-07-30, строки о текущем публичном доказательном блоке.</a:t>
            </a:r>
          </a:p>
          <a:p xmlns:a="http://schemas.openxmlformats.org/drawingml/2006/main">
            <a:r>
              <a:t>App Store и Google Play URLs: project/src/lib/site.ts.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состав репозитория и продуктовая документация.</a:t>
            </a:r>
          </a:p>
          <a:p xmlns:a="http://schemas.openxmlformats.org/drawingml/2006/main">
            <a:r>
              <a:t>Периметр сделки требует юридического подтверждения владельцем.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Контактные данные и условия должны быть заполнены владельцем до рассылки.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c125938d5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633e13bda84a8a" /><Relationship Type="http://schemas.openxmlformats.org/officeDocument/2006/relationships/slideLayout" Target="/ppt/slideLayouts/slideLayout1.xml" Id="Re14edab7084e46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edab7084e46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3333c31864f91" /><Relationship Type="http://schemas.openxmlformats.org/officeDocument/2006/relationships/image" Target="/ppt/media/image.bin" Id="Rb676342afcf04a3b" /><Relationship Type="http://schemas.openxmlformats.org/officeDocument/2006/relationships/notesSlide" Target="/ppt/notesSlides/notesSlide1.xml" Id="R86074ed0a9944a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186dd39d648e5" /><Relationship Type="http://schemas.openxmlformats.org/officeDocument/2006/relationships/notesSlide" Target="/ppt/notesSlides/notesSlide2.xml" Id="R8fd923762f4a43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8e5eda73742e9" /><Relationship Type="http://schemas.openxmlformats.org/officeDocument/2006/relationships/image" Target="/ppt/media/image2.bin" Id="R426f9b1af61d4143" /><Relationship Type="http://schemas.openxmlformats.org/officeDocument/2006/relationships/image" Target="/ppt/media/image3.bin" Id="Rd7458f7ec3a94711" /><Relationship Type="http://schemas.openxmlformats.org/officeDocument/2006/relationships/notesSlide" Target="/ppt/notesSlides/notesSlide3.xml" Id="Rdba06db7f1d0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61848a1dc46bb" /><Relationship Type="http://schemas.openxmlformats.org/officeDocument/2006/relationships/notesSlide" Target="/ppt/notesSlides/notesSlide4.xml" Id="R325ddabd02d24b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03c4befac47e4" /><Relationship Type="http://schemas.openxmlformats.org/officeDocument/2006/relationships/notesSlide" Target="/ppt/notesSlides/notesSlide5.xml" Id="Re2e0ac5d36d2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02cefe298403a" /><Relationship Type="http://schemas.openxmlformats.org/officeDocument/2006/relationships/notesSlide" Target="/ppt/notesSlides/notesSlide6.xml" Id="R487ea05da9614e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42f5e95634825" /><Relationship Type="http://schemas.openxmlformats.org/officeDocument/2006/relationships/notesSlide" Target="/ppt/notesSlides/notesSlide7.xml" Id="R9a35a369ded14d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f0b7bff9c40ff" /><Relationship Type="http://schemas.openxmlformats.org/officeDocument/2006/relationships/notesSlide" Target="/ppt/notesSlides/notesSlide8.xml" Id="Ra2bc59bd07a644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6342afcf04a3b"/>
          <a:srcRect xmlns:a="http://schemas.openxmlformats.org/drawingml/2006/main" l="25242" t="0" r="25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EED7-8586-430A-9250-CF0F88C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243E"/>
              </a:gs>
              <a:gs pos="100000">
                <a:srgbClr val="10243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7B3EF-E32F-4658-9A55-B2AEDC3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БАСТ НЕДВИЖИМОСТЬ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EAE5A-39A7-4363-B7AE-A23A31B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Готовая PropTech‑платформа для стратегического приобретения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5D647-5C30-4FCE-855F-09CE6C3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8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Мобильное приложение + веб‑CRM для сделок с загородной недвижимостью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55E17-2811-4772-A6A3-579947A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2D9D-4A81-4068-8FC4-4184ADF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5128-6B3C-471D-A5C5-F1D11BA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7235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A48B-A959-4A9F-B726-F7CAF78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Рынок теряет контекст между поиском и сделкой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70A7C-B110-4F1F-9ABA-986E47F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ОБЪЕКТ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176EE-80FB-47DE-BE7D-34A485B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ДИАЛОГ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2C212-8A6F-495F-B833-321573B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ДОКУМЕНТЫ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72F4E-DEAB-477E-9F84-629F53C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ОТВЕТСТВЕННЫЙ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CE45-28C9-4D7E-A876-6FCAE2A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ЭТАП СДЕЛКИ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758B-5599-4ED4-8D27-5056AE5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962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3548"/>
                </a:solidFill>
              </a:defRPr>
            </a:pPr>
            <a:r>
              <a:rPr sz="2100" b="0">
                <a:solidFill>
                  <a:srgbClr val="223548"/>
                </a:solidFill>
              </a:rPr>
              <a:t>Данные живут в объявлениях, мессенджерах, таблицах и разрозненных CRM. После показа участники теряют договорённости, авторство контакта и следующее действие.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EE711-CD30-49C6-BB5D-5105482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9F4EA-05C9-4D96-9445-BDE8E63B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Проблема не в отсутствии ещё одного каталога — а в отсутствии единого контура сделки.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E945-7C08-47AF-81DC-CDEDE24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5977F-8C13-4E2A-A461-A710B4D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4308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A8B3-B210-49F7-AC69-05EBFB8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Одна платформа — два интерфейса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f9b1af61d4143"/>
          <a:srcRect xmlns:a="http://schemas.openxmlformats.org/drawingml/2006/main" l="3704" t="0" r="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58f7ec3a94711"/>
          <a:srcRect xmlns:a="http://schemas.openxmlformats.org/drawingml/2006/main" l="13676" t="0" r="136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02B9E-D663-46E5-8FBB-9470C9C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Мобильное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1F907-FB3C-4F03-93BC-4C804DBB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Покупатель, риэлтор и застройщик работают с объектом и сделкой с телефона.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3FB5-D30B-48C4-8171-75C1C034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Веб‑CRM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C52D-8673-4E7B-9672-8A3BB69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Профессиональные команды ведут каталог, клиентов, обращения и сделки.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28C15-AA6D-4D0A-B076-E2B75B6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747E7-47B9-48FA-84F8-B248C73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1744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Три роли. Общий контекст сделки.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ПОКУПАТЕЛЬ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Поиск дома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Чат и показ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Статус документов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Не теряет контекст между поиском и оформлением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РИЭЛТОР / АГЕНТСТВО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Клиенты и рекомендации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Задачи и ответственные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Контроль активных сделок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Сохраняет авторство клиента и видит следующее 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ЗАСТРОЙЩИК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Каталог объектов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Обращения и команда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Статистика и акции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Не теряет обращения и контролирует работу по объектам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Общие сущности: объект • объявление • клиент • обращение • участники • сделка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Продукт связывает путь от объекта до подписания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Объект</a:t>
            </a:r>
          </a:p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выбран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Диалог</a:t>
            </a:r>
          </a:p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 показ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Участники</a:t>
            </a:r>
          </a:p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закреплены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Договор</a:t>
            </a:r>
          </a:p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готовится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Документы</a:t>
            </a:r>
          </a:p>
          <a:p xmlns:a="http://schemas.openxmlformats.org/drawingml/2006/main">
            <a:pPr algn="l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подписаны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QR‑код, ссылка или инвайт‑код помогают сохранить источник контакта и авторство риэлтора до начала сделки.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86791-EACC-473D-A951-289A0D9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Что уже подтверждено сегодня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FA43E-4C68-4350-9B8A-AF53B9A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 App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D7C9-67CA-4DEA-831B-59EDDD5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0DA04-A419-4C25-82AB-A8A76A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 Google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2EBBA-5D83-401F-8EB3-8263193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E843-A464-4862-9C9A-08EA4A7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Объекты представлены</a:t>
            </a:r>
          </a:p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 Удмуртии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C53A4-A205-4C84-8D71-BA34F1E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6CA78-37E1-435D-889B-1D48DC0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Веб‑CRM доступна</a:t>
            </a:r>
          </a:p>
          <a:p xmlns:a="http://schemas.openxmlformats.org/drawingml/2006/main">
            <a:pPr algn="l"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профессиональным ролям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94BD-9A38-4C2B-92DC-4A30423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06BD-9A52-4F0F-8D92-E36064C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98A"/>
                </a:solidFill>
              </a:defRPr>
            </a:pPr>
            <a:r>
              <a:rPr sz="1350" b="0">
                <a:solidFill>
                  <a:srgbClr val="66798A"/>
                </a:solidFill>
              </a:rPr>
              <a:t>Показатели аудитории, GMV и выручки раскрываются только после подтверждения источника, периода и методики расчёта.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98776-6BD4-41E7-85BC-89A621B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4929D-9959-48F3-BA8A-97DE77A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7627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Покупатель получает основу для ускоренного выхода на рынок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ТЕХНОЛОГИЯ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Мобильные клиенты</a:t>
            </a:r>
          </a:p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Веб‑CRM</a:t>
            </a:r>
          </a:p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Общая модель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Ролевые сценарии</a:t>
            </a:r>
          </a:p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Дизайн и контент</a:t>
            </a:r>
          </a:p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Backlog развития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GO‑TO‑MARKET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Опубликованное приложение</a:t>
            </a:r>
          </a:p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Региональная база</a:t>
            </a:r>
          </a:p>
          <a:p xmlns:a="http://schemas.openxmlformats.org/drawingml/2006/main">
            <a:pPr algn="l"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B2C + B2B контур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Финальный периметр: код, инфраструктура, права, домены, данные, договоры и переходная поддержка — подтверждаются в data room после NDA.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86F33-5307-4C6E-9D15-6D8A724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2236-A0B1-4DE7-A3B0-13386F59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Демонстрация продукта и обсуждение структуры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E1340-5473-42DA-8536-CBB2179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1. Вводная встреча  •  2. NDA и data room  •  3. Индикативное предложение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0ADB-7909-4D78-B266-BFDFE8E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F732-EDD3-415C-9C02-6F38B31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[Имя]  •  [телефон]  •  [электронная почта]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41464-2CCB-4AF0-88B7-9D35C08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4CF"/>
                </a:solidFill>
              </a:defRPr>
            </a:pPr>
            <a:r>
              <a:rPr sz="1350" b="0">
                <a:solidFill>
                  <a:srgbClr val="B8C4CF"/>
                </a:solidFill>
              </a:rPr>
              <a:t>Цена и условия — по запросу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FA47-7EC6-42AD-8105-752C4327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56A9D-5D41-4BE6-9593-ABE4B93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255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2026-08-02T16:43:35.2660000Z</dcterms:created>
  <dcterms:modified xsi:type="dcterms:W3CDTF">2026-08-02T16:43:35.2660000Z</dcterms:modified>
</coreProperties>
</file>